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5" r:id="rId7"/>
    <p:sldId id="266" r:id="rId8"/>
    <p:sldId id="267" r:id="rId9"/>
    <p:sldId id="268" r:id="rId10"/>
    <p:sldId id="269" r:id="rId11"/>
    <p:sldId id="270" r:id="rId12"/>
    <p:sldId id="271" r:id="rId13"/>
    <p:sldId id="272" r:id="rId14"/>
    <p:sldId id="279" r:id="rId15"/>
    <p:sldId id="278" r:id="rId16"/>
    <p:sldId id="273" r:id="rId17"/>
    <p:sldId id="274" r:id="rId18"/>
    <p:sldId id="275" r:id="rId19"/>
    <p:sldId id="261" r:id="rId20"/>
    <p:sldId id="262" r:id="rId21"/>
    <p:sldId id="276" r:id="rId22"/>
    <p:sldId id="277" r:id="rId23"/>
    <p:sldId id="263" r:id="rId24"/>
    <p:sldId id="281" r:id="rId25"/>
    <p:sldId id="280" r:id="rId26"/>
    <p:sldId id="26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982" autoAdjust="0"/>
  </p:normalViewPr>
  <p:slideViewPr>
    <p:cSldViewPr snapToGrid="0">
      <p:cViewPr varScale="1">
        <p:scale>
          <a:sx n="83" d="100"/>
          <a:sy n="83" d="100"/>
        </p:scale>
        <p:origin x="-658"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624EAF8-7309-4883-A1FE-C7BA301B65EB}" type="datetimeFigureOut">
              <a:rPr lang="en-IN" smtClean="0"/>
              <a:t>15-12-2025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2363347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24EAF8-7309-4883-A1FE-C7BA301B65E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3902859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24EAF8-7309-4883-A1FE-C7BA301B65E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2847384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126361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24EAF8-7309-4883-A1FE-C7BA301B65EB}" type="datetimeFigureOut">
              <a:rPr lang="en-IN" smtClean="0"/>
              <a:t>15-12-2025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1290809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24EAF8-7309-4883-A1FE-C7BA301B65EB}"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90809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24EAF8-7309-4883-A1FE-C7BA301B65EB}" type="datetimeFigureOut">
              <a:rPr lang="en-IN" smtClean="0"/>
              <a:t>15-12-2025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1093845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4220372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1960747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3536388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3568975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55056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4EAF8-7309-4883-A1FE-C7BA301B65E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284359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624EAF8-7309-4883-A1FE-C7BA301B65EB}"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236967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624EAF8-7309-4883-A1FE-C7BA301B65EB}"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9839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24EAF8-7309-4883-A1FE-C7BA301B65E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2678091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24EAF8-7309-4883-A1FE-C7BA301B65E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4E3EA-094E-4CE0-9C70-FF19667C67C6}" type="slidenum">
              <a:rPr lang="en-IN" smtClean="0"/>
              <a:t>‹#›</a:t>
            </a:fld>
            <a:endParaRPr lang="en-IN"/>
          </a:p>
        </p:txBody>
      </p:sp>
    </p:spTree>
    <p:extLst>
      <p:ext uri="{BB962C8B-B14F-4D97-AF65-F5344CB8AC3E}">
        <p14:creationId xmlns:p14="http://schemas.microsoft.com/office/powerpoint/2010/main" val="482130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624EAF8-7309-4883-A1FE-C7BA301B65EB}" type="datetimeFigureOut">
              <a:rPr lang="en-IN" smtClean="0"/>
              <a:t>15-12-2025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C94E3EA-094E-4CE0-9C70-FF19667C67C6}" type="slidenum">
              <a:rPr lang="en-IN" smtClean="0"/>
              <a:t>‹#›</a:t>
            </a:fld>
            <a:endParaRPr lang="en-IN"/>
          </a:p>
        </p:txBody>
      </p:sp>
    </p:spTree>
    <p:extLst>
      <p:ext uri="{BB962C8B-B14F-4D97-AF65-F5344CB8AC3E}">
        <p14:creationId xmlns:p14="http://schemas.microsoft.com/office/powerpoint/2010/main" val="25796282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6809F650-8E7F-47FE-4117-3A7CA3C6BD22}"/>
              </a:ext>
            </a:extLst>
          </p:cNvPr>
          <p:cNvSpPr txBox="1"/>
          <p:nvPr/>
        </p:nvSpPr>
        <p:spPr>
          <a:xfrm>
            <a:off x="2802197" y="-83035"/>
            <a:ext cx="6223819" cy="410882"/>
          </a:xfrm>
          <a:prstGeom prst="rect">
            <a:avLst/>
          </a:prstGeom>
          <a:noFill/>
        </p:spPr>
        <p:txBody>
          <a:bodyPr wrap="square">
            <a:spAutoFit/>
          </a:bodyPr>
          <a:lstStyle/>
          <a:p>
            <a:pPr algn="ctr">
              <a:lnSpc>
                <a:spcPct val="115000"/>
              </a:lnSpc>
            </a:pPr>
            <a:r>
              <a:rPr lang="en-US" sz="1800" b="1" dirty="0">
                <a:effectLst/>
                <a:latin typeface="Times New Roman" panose="02020603050405020304" pitchFamily="18" charset="0"/>
                <a:ea typeface="Times New Roman" panose="02020603050405020304" pitchFamily="18" charset="0"/>
              </a:rPr>
              <a:t>VISVESVARAYA TECHNOLOGICAL UNIVERSITY </a:t>
            </a:r>
            <a:endParaRPr lang="en-IN" sz="1200" dirty="0">
              <a:effectLst/>
              <a:latin typeface="Times New Roman" panose="02020603050405020304" pitchFamily="18" charset="0"/>
              <a:ea typeface="Times New Roman" panose="02020603050405020304" pitchFamily="18" charset="0"/>
            </a:endParaRPr>
          </a:p>
        </p:txBody>
      </p:sp>
      <p:pic>
        <p:nvPicPr>
          <p:cNvPr id="1026" name="Picture 2">
            <a:extLst>
              <a:ext uri="{FF2B5EF4-FFF2-40B4-BE49-F238E27FC236}">
                <a16:creationId xmlns="" xmlns:a16="http://schemas.microsoft.com/office/drawing/2014/main" id="{1FD0C98B-7261-AB0F-F293-E4AD852A0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0428" y="401053"/>
            <a:ext cx="1393005" cy="100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 xmlns:a16="http://schemas.microsoft.com/office/drawing/2014/main" id="{0D8D6896-8E59-8BDD-911D-51DC3CFA4AC6}"/>
              </a:ext>
            </a:extLst>
          </p:cNvPr>
          <p:cNvSpPr txBox="1"/>
          <p:nvPr/>
        </p:nvSpPr>
        <p:spPr>
          <a:xfrm>
            <a:off x="2802198" y="1406013"/>
            <a:ext cx="6341807" cy="410882"/>
          </a:xfrm>
          <a:prstGeom prst="rect">
            <a:avLst/>
          </a:prstGeom>
          <a:noFill/>
        </p:spPr>
        <p:txBody>
          <a:bodyPr wrap="square">
            <a:spAutoFit/>
          </a:bodyPr>
          <a:lstStyle/>
          <a:p>
            <a:pPr marL="1863090" marR="1860550" algn="ctr">
              <a:lnSpc>
                <a:spcPct val="115000"/>
              </a:lnSpc>
              <a:spcBef>
                <a:spcPts val="1200"/>
              </a:spcBef>
              <a:spcAft>
                <a:spcPts val="845"/>
              </a:spcAft>
            </a:pPr>
            <a:r>
              <a:rPr lang="en-IN" kern="100" dirty="0" smtClean="0">
                <a:solidFill>
                  <a:srgbClr val="000000"/>
                </a:solidFill>
                <a:latin typeface="Times New Roman" panose="02020603050405020304" pitchFamily="18" charset="0"/>
                <a:ea typeface="Times New Roman" panose="02020603050405020304" pitchFamily="18" charset="0"/>
              </a:rPr>
              <a:t>Presentation on</a:t>
            </a:r>
            <a:endParaRPr lang="en-IN" sz="18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 xmlns:a16="http://schemas.microsoft.com/office/drawing/2014/main" id="{6643E10D-9000-BE76-262E-022347F682B5}"/>
              </a:ext>
            </a:extLst>
          </p:cNvPr>
          <p:cNvSpPr txBox="1"/>
          <p:nvPr/>
        </p:nvSpPr>
        <p:spPr>
          <a:xfrm>
            <a:off x="2920181" y="1641991"/>
            <a:ext cx="6223819" cy="410882"/>
          </a:xfrm>
          <a:prstGeom prst="rect">
            <a:avLst/>
          </a:prstGeom>
          <a:noFill/>
        </p:spPr>
        <p:txBody>
          <a:bodyPr wrap="square">
            <a:spAutoFit/>
          </a:bodyPr>
          <a:lstStyle/>
          <a:p>
            <a:pPr marL="1863090" marR="1860550" algn="ctr">
              <a:lnSpc>
                <a:spcPct val="115000"/>
              </a:lnSpc>
              <a:spcBef>
                <a:spcPts val="1200"/>
              </a:spcBef>
              <a:spcAft>
                <a:spcPts val="845"/>
              </a:spcAft>
            </a:pPr>
            <a:r>
              <a:rPr lang="en-IN" sz="1800" kern="100" dirty="0">
                <a:solidFill>
                  <a:srgbClr val="000000"/>
                </a:solidFill>
                <a:effectLst/>
                <a:latin typeface="Times New Roman" panose="02020603050405020304" pitchFamily="18" charset="0"/>
                <a:ea typeface="Times New Roman" panose="02020603050405020304" pitchFamily="18" charset="0"/>
              </a:rPr>
              <a:t>Project </a:t>
            </a:r>
            <a:r>
              <a:rPr lang="en-IN" sz="1800" kern="100" dirty="0" smtClean="0">
                <a:solidFill>
                  <a:srgbClr val="000000"/>
                </a:solidFill>
                <a:effectLst/>
                <a:latin typeface="Times New Roman" panose="02020603050405020304" pitchFamily="18" charset="0"/>
                <a:ea typeface="Times New Roman" panose="02020603050405020304" pitchFamily="18" charset="0"/>
              </a:rPr>
              <a:t>Phase-2</a:t>
            </a:r>
            <a:endParaRPr lang="en-IN" sz="18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 xmlns:a16="http://schemas.microsoft.com/office/drawing/2014/main" id="{8A70DDF0-4A84-74A5-C495-1E299BF09127}"/>
              </a:ext>
            </a:extLst>
          </p:cNvPr>
          <p:cNvSpPr txBox="1"/>
          <p:nvPr/>
        </p:nvSpPr>
        <p:spPr>
          <a:xfrm>
            <a:off x="2802198" y="1899534"/>
            <a:ext cx="6341807"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AI</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DRIVEN</a:t>
            </a:r>
            <a:r>
              <a:rPr lang="en-US" sz="1800" b="1" spc="-4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AGRICULTURAL</a:t>
            </a:r>
            <a:r>
              <a:rPr lang="en-US" sz="1800" b="1" spc="-5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LAND</a:t>
            </a:r>
            <a:r>
              <a:rPr lang="en-US" sz="1800" b="1" spc="-4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ADAPTION SYSTEM </a:t>
            </a:r>
            <a:endParaRPr lang="en-IN" dirty="0"/>
          </a:p>
        </p:txBody>
      </p:sp>
      <p:sp>
        <p:nvSpPr>
          <p:cNvPr id="15" name="TextBox 14">
            <a:extLst>
              <a:ext uri="{FF2B5EF4-FFF2-40B4-BE49-F238E27FC236}">
                <a16:creationId xmlns="" xmlns:a16="http://schemas.microsoft.com/office/drawing/2014/main" id="{43046D4E-BAC0-1270-BF85-EB6A4056A0C7}"/>
              </a:ext>
            </a:extLst>
          </p:cNvPr>
          <p:cNvSpPr txBox="1"/>
          <p:nvPr/>
        </p:nvSpPr>
        <p:spPr>
          <a:xfrm>
            <a:off x="2984091" y="2303735"/>
            <a:ext cx="6223819" cy="410882"/>
          </a:xfrm>
          <a:prstGeom prst="rect">
            <a:avLst/>
          </a:prstGeom>
          <a:noFill/>
        </p:spPr>
        <p:txBody>
          <a:bodyPr wrap="square">
            <a:spAutoFit/>
          </a:bodyPr>
          <a:lstStyle/>
          <a:p>
            <a:pPr marL="1859915" marR="1946910" indent="-6350" algn="ctr">
              <a:lnSpc>
                <a:spcPct val="115000"/>
              </a:lnSpc>
              <a:spcAft>
                <a:spcPts val="660"/>
              </a:spcAft>
            </a:pPr>
            <a:r>
              <a:rPr lang="en-IN" sz="1800" kern="100" dirty="0" smtClean="0">
                <a:solidFill>
                  <a:srgbClr val="000000"/>
                </a:solidFill>
                <a:effectLst/>
                <a:latin typeface="Times New Roman" panose="02020603050405020304" pitchFamily="18" charset="0"/>
                <a:ea typeface="Times New Roman" panose="02020603050405020304" pitchFamily="18" charset="0"/>
              </a:rPr>
              <a:t>Submitted by</a:t>
            </a:r>
            <a:endParaRPr lang="en-IN" sz="1800" dirty="0">
              <a:effectLst/>
              <a:latin typeface="Times New Roman" panose="02020603050405020304" pitchFamily="18" charset="0"/>
              <a:ea typeface="Times New Roman" panose="02020603050405020304" pitchFamily="18" charset="0"/>
            </a:endParaRPr>
          </a:p>
        </p:txBody>
      </p:sp>
      <p:sp>
        <p:nvSpPr>
          <p:cNvPr id="17" name="TextBox 16">
            <a:extLst>
              <a:ext uri="{FF2B5EF4-FFF2-40B4-BE49-F238E27FC236}">
                <a16:creationId xmlns="" xmlns:a16="http://schemas.microsoft.com/office/drawing/2014/main" id="{09966C69-9E9A-541E-A17B-4A8E328475EE}"/>
              </a:ext>
            </a:extLst>
          </p:cNvPr>
          <p:cNvSpPr txBox="1"/>
          <p:nvPr/>
        </p:nvSpPr>
        <p:spPr>
          <a:xfrm>
            <a:off x="3009842" y="2612587"/>
            <a:ext cx="6076335" cy="375487"/>
          </a:xfrm>
          <a:prstGeom prst="rect">
            <a:avLst/>
          </a:prstGeom>
          <a:noFill/>
        </p:spPr>
        <p:txBody>
          <a:bodyPr wrap="square">
            <a:spAutoFit/>
          </a:bodyPr>
          <a:lstStyle/>
          <a:p>
            <a:pPr indent="-6350" algn="ctr">
              <a:lnSpc>
                <a:spcPct val="115000"/>
              </a:lnSpc>
              <a:spcAft>
                <a:spcPts val="610"/>
              </a:spcAft>
            </a:pPr>
            <a:r>
              <a:rPr lang="en-IN" sz="1600" b="1" kern="100" dirty="0" smtClean="0">
                <a:solidFill>
                  <a:srgbClr val="000000"/>
                </a:solidFill>
                <a:effectLst/>
                <a:latin typeface="Times New Roman" panose="02020603050405020304" pitchFamily="18" charset="0"/>
                <a:ea typeface="Times New Roman" panose="02020603050405020304" pitchFamily="18" charset="0"/>
              </a:rPr>
              <a:t>   </a:t>
            </a:r>
            <a:r>
              <a:rPr lang="en-IN" sz="1600" b="1" kern="100" dirty="0" err="1" smtClean="0">
                <a:solidFill>
                  <a:srgbClr val="000000"/>
                </a:solidFill>
                <a:effectLst/>
                <a:latin typeface="Times New Roman" panose="02020603050405020304" pitchFamily="18" charset="0"/>
                <a:ea typeface="Times New Roman" panose="02020603050405020304" pitchFamily="18" charset="0"/>
              </a:rPr>
              <a:t>Narendra</a:t>
            </a:r>
            <a:r>
              <a:rPr lang="en-IN" sz="1600" b="1" kern="100" dirty="0" smtClean="0">
                <a:solidFill>
                  <a:srgbClr val="000000"/>
                </a:solidFill>
                <a:effectLst/>
                <a:latin typeface="Times New Roman" panose="02020603050405020304" pitchFamily="18" charset="0"/>
                <a:ea typeface="Times New Roman" panose="02020603050405020304" pitchFamily="18" charset="0"/>
              </a:rPr>
              <a:t> </a:t>
            </a:r>
            <a:r>
              <a:rPr lang="en-IN" sz="1600" b="1" kern="100" dirty="0">
                <a:solidFill>
                  <a:srgbClr val="000000"/>
                </a:solidFill>
                <a:effectLst/>
                <a:latin typeface="Times New Roman" panose="02020603050405020304" pitchFamily="18" charset="0"/>
                <a:ea typeface="Times New Roman" panose="02020603050405020304" pitchFamily="18" charset="0"/>
              </a:rPr>
              <a:t>M                           4BB22IS023</a:t>
            </a:r>
            <a:endParaRPr lang="en-IN" sz="1600" dirty="0">
              <a:effectLst/>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 xmlns:a16="http://schemas.microsoft.com/office/drawing/2014/main" id="{479FCF30-EAF2-CA66-5106-4741A818A227}"/>
              </a:ext>
            </a:extLst>
          </p:cNvPr>
          <p:cNvSpPr txBox="1"/>
          <p:nvPr/>
        </p:nvSpPr>
        <p:spPr>
          <a:xfrm>
            <a:off x="4170617" y="2995379"/>
            <a:ext cx="4945627" cy="338554"/>
          </a:xfrm>
          <a:prstGeom prst="rect">
            <a:avLst/>
          </a:prstGeom>
          <a:noFill/>
        </p:spPr>
        <p:txBody>
          <a:bodyPr wrap="square">
            <a:spAutoFit/>
          </a:bodyPr>
          <a:lstStyle/>
          <a:p>
            <a:r>
              <a:rPr lang="en-IN" sz="1600" b="1" kern="100" dirty="0">
                <a:solidFill>
                  <a:srgbClr val="000000"/>
                </a:solidFill>
                <a:effectLst/>
                <a:latin typeface="Times New Roman" panose="02020603050405020304" pitchFamily="18" charset="0"/>
                <a:ea typeface="Times New Roman" panose="02020603050405020304" pitchFamily="18" charset="0"/>
              </a:rPr>
              <a:t> Range Gowda KM                 4BB23IS401</a:t>
            </a:r>
            <a:endParaRPr lang="en-IN" sz="1600" dirty="0"/>
          </a:p>
        </p:txBody>
      </p:sp>
      <p:sp>
        <p:nvSpPr>
          <p:cNvPr id="21" name="TextBox 20">
            <a:extLst>
              <a:ext uri="{FF2B5EF4-FFF2-40B4-BE49-F238E27FC236}">
                <a16:creationId xmlns="" xmlns:a16="http://schemas.microsoft.com/office/drawing/2014/main" id="{993F923C-4910-F15E-8978-517A071B9872}"/>
              </a:ext>
            </a:extLst>
          </p:cNvPr>
          <p:cNvSpPr txBox="1"/>
          <p:nvPr/>
        </p:nvSpPr>
        <p:spPr>
          <a:xfrm>
            <a:off x="4198373" y="2818793"/>
            <a:ext cx="4945627" cy="338554"/>
          </a:xfrm>
          <a:prstGeom prst="rect">
            <a:avLst/>
          </a:prstGeom>
          <a:noFill/>
        </p:spPr>
        <p:txBody>
          <a:bodyPr wrap="square">
            <a:spAutoFit/>
          </a:bodyPr>
          <a:lstStyle/>
          <a:p>
            <a:r>
              <a:rPr lang="en-IN" sz="1600" b="1" kern="100" dirty="0">
                <a:solidFill>
                  <a:srgbClr val="000000"/>
                </a:solidFill>
                <a:effectLst/>
                <a:latin typeface="Times New Roman" panose="02020603050405020304" pitchFamily="18" charset="0"/>
                <a:ea typeface="Times New Roman" panose="02020603050405020304" pitchFamily="18" charset="0"/>
              </a:rPr>
              <a:t> Prajwal D Naik                      4BB22IS029</a:t>
            </a:r>
            <a:endParaRPr lang="en-IN" sz="1600" dirty="0"/>
          </a:p>
        </p:txBody>
      </p:sp>
      <p:sp>
        <p:nvSpPr>
          <p:cNvPr id="23" name="TextBox 22">
            <a:extLst>
              <a:ext uri="{FF2B5EF4-FFF2-40B4-BE49-F238E27FC236}">
                <a16:creationId xmlns="" xmlns:a16="http://schemas.microsoft.com/office/drawing/2014/main" id="{C4DD98AB-BFBB-742C-D17D-94F2D2EE9356}"/>
              </a:ext>
            </a:extLst>
          </p:cNvPr>
          <p:cNvSpPr txBox="1"/>
          <p:nvPr/>
        </p:nvSpPr>
        <p:spPr>
          <a:xfrm>
            <a:off x="3260559" y="3333929"/>
            <a:ext cx="6076336" cy="410882"/>
          </a:xfrm>
          <a:prstGeom prst="rect">
            <a:avLst/>
          </a:prstGeom>
          <a:noFill/>
        </p:spPr>
        <p:txBody>
          <a:bodyPr wrap="square">
            <a:spAutoFit/>
          </a:bodyPr>
          <a:lstStyle/>
          <a:p>
            <a:pPr marL="1859915" marR="1854200" indent="-6350" algn="ctr">
              <a:lnSpc>
                <a:spcPct val="115000"/>
              </a:lnSpc>
              <a:spcAft>
                <a:spcPts val="845"/>
              </a:spcAft>
            </a:pPr>
            <a:r>
              <a:rPr lang="en-IN" sz="1800" kern="100" dirty="0">
                <a:solidFill>
                  <a:srgbClr val="000000"/>
                </a:solidFill>
                <a:effectLst/>
                <a:latin typeface="Times New Roman" panose="02020603050405020304" pitchFamily="18" charset="0"/>
                <a:ea typeface="Times New Roman" panose="02020603050405020304" pitchFamily="18" charset="0"/>
              </a:rPr>
              <a:t>Under the Guidance of</a:t>
            </a:r>
            <a:endParaRPr lang="en-IN" sz="1800" dirty="0">
              <a:effectLst/>
              <a:latin typeface="Times New Roman" panose="02020603050405020304" pitchFamily="18" charset="0"/>
              <a:ea typeface="Times New Roman" panose="02020603050405020304" pitchFamily="18" charset="0"/>
            </a:endParaRPr>
          </a:p>
        </p:txBody>
      </p:sp>
      <p:sp>
        <p:nvSpPr>
          <p:cNvPr id="25" name="TextBox 24">
            <a:extLst>
              <a:ext uri="{FF2B5EF4-FFF2-40B4-BE49-F238E27FC236}">
                <a16:creationId xmlns="" xmlns:a16="http://schemas.microsoft.com/office/drawing/2014/main" id="{C575BD55-EE7E-1FD8-FD58-A8D0082C284B}"/>
              </a:ext>
            </a:extLst>
          </p:cNvPr>
          <p:cNvSpPr txBox="1"/>
          <p:nvPr/>
        </p:nvSpPr>
        <p:spPr>
          <a:xfrm>
            <a:off x="3067665" y="3626562"/>
            <a:ext cx="6223819" cy="410882"/>
          </a:xfrm>
          <a:prstGeom prst="rect">
            <a:avLst/>
          </a:prstGeom>
          <a:noFill/>
        </p:spPr>
        <p:txBody>
          <a:bodyPr wrap="square">
            <a:spAutoFit/>
          </a:bodyPr>
          <a:lstStyle/>
          <a:p>
            <a:pPr algn="ctr">
              <a:lnSpc>
                <a:spcPct val="115000"/>
              </a:lnSpc>
            </a:pPr>
            <a:r>
              <a:rPr lang="en-IN" b="1" kern="100" dirty="0">
                <a:solidFill>
                  <a:srgbClr val="000000"/>
                </a:solidFill>
                <a:effectLst/>
                <a:latin typeface="Times New Roman" panose="02020603050405020304" pitchFamily="18" charset="0"/>
                <a:ea typeface="Times New Roman" panose="02020603050405020304" pitchFamily="18" charset="0"/>
              </a:rPr>
              <a:t>Dr. Yashodha M</a:t>
            </a:r>
            <a:r>
              <a:rPr lang="en-IN" sz="1000" b="1" kern="100" dirty="0">
                <a:solidFill>
                  <a:srgbClr val="000000"/>
                </a:solidFill>
                <a:effectLst/>
                <a:latin typeface="Times New Roman" panose="02020603050405020304" pitchFamily="18" charset="0"/>
                <a:ea typeface="Times New Roman" panose="02020603050405020304" pitchFamily="18" charset="0"/>
              </a:rPr>
              <a:t>, B.E., M. Tech., Ph.D.</a:t>
            </a:r>
            <a:endParaRPr lang="en-IN" sz="1000" dirty="0">
              <a:effectLst/>
              <a:latin typeface="Times New Roman" panose="02020603050405020304" pitchFamily="18" charset="0"/>
              <a:ea typeface="Times New Roman" panose="02020603050405020304" pitchFamily="18" charset="0"/>
            </a:endParaRPr>
          </a:p>
        </p:txBody>
      </p:sp>
      <p:sp>
        <p:nvSpPr>
          <p:cNvPr id="27" name="TextBox 26">
            <a:extLst>
              <a:ext uri="{FF2B5EF4-FFF2-40B4-BE49-F238E27FC236}">
                <a16:creationId xmlns="" xmlns:a16="http://schemas.microsoft.com/office/drawing/2014/main" id="{646296E3-AF0E-CE48-E431-5A376EA38EA2}"/>
              </a:ext>
            </a:extLst>
          </p:cNvPr>
          <p:cNvSpPr txBox="1"/>
          <p:nvPr/>
        </p:nvSpPr>
        <p:spPr>
          <a:xfrm>
            <a:off x="3009842" y="3819243"/>
            <a:ext cx="6341807" cy="410882"/>
          </a:xfrm>
          <a:prstGeom prst="rect">
            <a:avLst/>
          </a:prstGeom>
          <a:noFill/>
        </p:spPr>
        <p:txBody>
          <a:bodyPr wrap="square">
            <a:spAutoFit/>
          </a:bodyPr>
          <a:lstStyle/>
          <a:p>
            <a:pPr marL="8255" marR="3175" indent="-6350" algn="ctr">
              <a:lnSpc>
                <a:spcPct val="115000"/>
              </a:lnSpc>
            </a:pPr>
            <a:r>
              <a:rPr lang="en-IN" sz="1800" b="1" kern="100" dirty="0">
                <a:solidFill>
                  <a:srgbClr val="000000"/>
                </a:solidFill>
                <a:effectLst/>
                <a:latin typeface="Times New Roman" panose="02020603050405020304" pitchFamily="18" charset="0"/>
                <a:ea typeface="Times New Roman" panose="02020603050405020304" pitchFamily="18" charset="0"/>
              </a:rPr>
              <a:t> Professor &amp; HOD</a:t>
            </a:r>
            <a:endParaRPr lang="en-IN" sz="1800" dirty="0">
              <a:effectLst/>
              <a:latin typeface="Times New Roman" panose="02020603050405020304" pitchFamily="18" charset="0"/>
              <a:ea typeface="Times New Roman" panose="02020603050405020304" pitchFamily="18" charset="0"/>
            </a:endParaRPr>
          </a:p>
        </p:txBody>
      </p:sp>
      <p:sp>
        <p:nvSpPr>
          <p:cNvPr id="29" name="TextBox 28">
            <a:extLst>
              <a:ext uri="{FF2B5EF4-FFF2-40B4-BE49-F238E27FC236}">
                <a16:creationId xmlns="" xmlns:a16="http://schemas.microsoft.com/office/drawing/2014/main" id="{5E459158-EF87-D840-534F-C1E21420E57D}"/>
              </a:ext>
            </a:extLst>
          </p:cNvPr>
          <p:cNvSpPr txBox="1"/>
          <p:nvPr/>
        </p:nvSpPr>
        <p:spPr>
          <a:xfrm>
            <a:off x="3067665" y="4011929"/>
            <a:ext cx="6223819" cy="729430"/>
          </a:xfrm>
          <a:prstGeom prst="rect">
            <a:avLst/>
          </a:prstGeom>
          <a:noFill/>
        </p:spPr>
        <p:txBody>
          <a:bodyPr wrap="square">
            <a:spAutoFit/>
          </a:bodyPr>
          <a:lstStyle/>
          <a:p>
            <a:pPr marL="8255" marR="3175" indent="-6350" algn="ctr">
              <a:lnSpc>
                <a:spcPct val="115000"/>
              </a:lnSpc>
              <a:buNone/>
            </a:pPr>
            <a:r>
              <a:rPr lang="en-IN" sz="1800" b="1" kern="100" dirty="0">
                <a:solidFill>
                  <a:srgbClr val="000000"/>
                </a:solidFill>
                <a:effectLst/>
                <a:latin typeface="Times New Roman" panose="02020603050405020304" pitchFamily="18" charset="0"/>
                <a:ea typeface="Times New Roman" panose="02020603050405020304" pitchFamily="18" charset="0"/>
              </a:rPr>
              <a:t>Department of  Information Science and Engineering</a:t>
            </a:r>
            <a:endParaRPr lang="en-IN" sz="1800" dirty="0">
              <a:effectLst/>
              <a:latin typeface="Times New Roman" panose="02020603050405020304" pitchFamily="18" charset="0"/>
              <a:ea typeface="Times New Roman" panose="02020603050405020304" pitchFamily="18" charset="0"/>
            </a:endParaRPr>
          </a:p>
          <a:p>
            <a:pPr marL="2427605">
              <a:lnSpc>
                <a:spcPct val="115000"/>
              </a:lnSpc>
            </a:pPr>
            <a:r>
              <a:rPr lang="en-IN" sz="1800" kern="100"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pic>
        <p:nvPicPr>
          <p:cNvPr id="1027" name="Picture 105">
            <a:extLst>
              <a:ext uri="{FF2B5EF4-FFF2-40B4-BE49-F238E27FC236}">
                <a16:creationId xmlns="" xmlns:a16="http://schemas.microsoft.com/office/drawing/2014/main" id="{E83C93F7-0340-AA47-DA39-25AE3B957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5080" y="4363888"/>
            <a:ext cx="836037" cy="112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 xmlns:a16="http://schemas.microsoft.com/office/drawing/2014/main" id="{D3B6A714-0E33-8D3B-4745-90265D57253A}"/>
              </a:ext>
            </a:extLst>
          </p:cNvPr>
          <p:cNvSpPr txBox="1"/>
          <p:nvPr/>
        </p:nvSpPr>
        <p:spPr>
          <a:xfrm>
            <a:off x="2920183" y="5392529"/>
            <a:ext cx="6757092" cy="461665"/>
          </a:xfrm>
          <a:prstGeom prst="rect">
            <a:avLst/>
          </a:prstGeom>
          <a:noFill/>
        </p:spPr>
        <p:txBody>
          <a:bodyPr wrap="square">
            <a:spAutoFit/>
          </a:bodyPr>
          <a:lstStyle/>
          <a:p>
            <a:pPr marR="5715" algn="ctr">
              <a:lnSpc>
                <a:spcPct val="150000"/>
              </a:lnSpc>
            </a:pPr>
            <a:r>
              <a:rPr lang="en-IN" sz="1600" b="1" kern="100" dirty="0">
                <a:solidFill>
                  <a:srgbClr val="000000"/>
                </a:solidFill>
                <a:effectLst/>
                <a:latin typeface="Times New Roman" panose="02020603050405020304" pitchFamily="18" charset="0"/>
                <a:ea typeface="Times New Roman" panose="02020603050405020304" pitchFamily="18" charset="0"/>
              </a:rPr>
              <a:t>DEPARTMENT OF INFORMATION SCIENCE  AND ENGINEERING</a:t>
            </a:r>
            <a:endParaRPr lang="en-IN" sz="1600" dirty="0">
              <a:effectLst/>
              <a:latin typeface="Times New Roman" panose="02020603050405020304" pitchFamily="18" charset="0"/>
              <a:ea typeface="Times New Roman" panose="02020603050405020304" pitchFamily="18" charset="0"/>
            </a:endParaRPr>
          </a:p>
        </p:txBody>
      </p:sp>
      <p:sp>
        <p:nvSpPr>
          <p:cNvPr id="35" name="TextBox 34">
            <a:extLst>
              <a:ext uri="{FF2B5EF4-FFF2-40B4-BE49-F238E27FC236}">
                <a16:creationId xmlns="" xmlns:a16="http://schemas.microsoft.com/office/drawing/2014/main" id="{4A39E6C4-4892-4C5F-C8FA-8BC12E9B1652}"/>
              </a:ext>
            </a:extLst>
          </p:cNvPr>
          <p:cNvSpPr txBox="1"/>
          <p:nvPr/>
        </p:nvSpPr>
        <p:spPr>
          <a:xfrm>
            <a:off x="2751740" y="5601240"/>
            <a:ext cx="6858000" cy="507831"/>
          </a:xfrm>
          <a:prstGeom prst="rect">
            <a:avLst/>
          </a:prstGeom>
          <a:noFill/>
        </p:spPr>
        <p:txBody>
          <a:bodyPr wrap="square">
            <a:spAutoFit/>
          </a:bodyPr>
          <a:lstStyle/>
          <a:p>
            <a:pPr marL="8255" marR="7620" indent="-6350" algn="ctr">
              <a:lnSpc>
                <a:spcPct val="150000"/>
              </a:lnSpc>
            </a:pPr>
            <a:r>
              <a:rPr lang="en-IN" sz="1800" b="1" kern="100" dirty="0">
                <a:solidFill>
                  <a:srgbClr val="000000"/>
                </a:solidFill>
                <a:effectLst/>
                <a:latin typeface="Times New Roman" panose="02020603050405020304" pitchFamily="18" charset="0"/>
                <a:ea typeface="Times New Roman" panose="02020603050405020304" pitchFamily="18" charset="0"/>
              </a:rPr>
              <a:t>Bahubali College of Engineering</a:t>
            </a:r>
            <a:endParaRPr lang="en-IN" sz="1800" dirty="0">
              <a:effectLst/>
              <a:latin typeface="Times New Roman" panose="02020603050405020304" pitchFamily="18" charset="0"/>
              <a:ea typeface="Times New Roman" panose="02020603050405020304" pitchFamily="18" charset="0"/>
            </a:endParaRPr>
          </a:p>
        </p:txBody>
      </p:sp>
      <p:sp>
        <p:nvSpPr>
          <p:cNvPr id="37" name="TextBox 36">
            <a:extLst>
              <a:ext uri="{FF2B5EF4-FFF2-40B4-BE49-F238E27FC236}">
                <a16:creationId xmlns="" xmlns:a16="http://schemas.microsoft.com/office/drawing/2014/main" id="{249672CF-3EFA-59C4-9C67-94936F71440E}"/>
              </a:ext>
            </a:extLst>
          </p:cNvPr>
          <p:cNvSpPr txBox="1"/>
          <p:nvPr/>
        </p:nvSpPr>
        <p:spPr>
          <a:xfrm>
            <a:off x="789591" y="5850603"/>
            <a:ext cx="10782300" cy="461665"/>
          </a:xfrm>
          <a:prstGeom prst="rect">
            <a:avLst/>
          </a:prstGeom>
          <a:noFill/>
        </p:spPr>
        <p:txBody>
          <a:bodyPr wrap="square">
            <a:spAutoFit/>
          </a:bodyPr>
          <a:lstStyle/>
          <a:p>
            <a:pPr marL="8255" marR="7620" indent="-6350" algn="ctr">
              <a:lnSpc>
                <a:spcPct val="150000"/>
              </a:lnSpc>
            </a:pPr>
            <a:r>
              <a:rPr lang="en-IN" sz="1600" b="1" kern="100" dirty="0">
                <a:solidFill>
                  <a:srgbClr val="000000"/>
                </a:solidFill>
                <a:effectLst/>
                <a:latin typeface="Times New Roman" panose="02020603050405020304" pitchFamily="18" charset="0"/>
                <a:ea typeface="Times New Roman" panose="02020603050405020304" pitchFamily="18" charset="0"/>
              </a:rPr>
              <a:t>Shravanabelagola – 573 135</a:t>
            </a:r>
            <a:endParaRPr lang="en-IN" sz="1600" dirty="0">
              <a:effectLst/>
              <a:latin typeface="Times New Roman" panose="02020603050405020304" pitchFamily="18" charset="0"/>
              <a:ea typeface="Times New Roman" panose="02020603050405020304" pitchFamily="18" charset="0"/>
            </a:endParaRPr>
          </a:p>
        </p:txBody>
      </p:sp>
      <p:sp>
        <p:nvSpPr>
          <p:cNvPr id="39" name="TextBox 38">
            <a:extLst>
              <a:ext uri="{FF2B5EF4-FFF2-40B4-BE49-F238E27FC236}">
                <a16:creationId xmlns="" xmlns:a16="http://schemas.microsoft.com/office/drawing/2014/main" id="{B076DD52-D284-FA19-2F52-75F5F4770B24}"/>
              </a:ext>
            </a:extLst>
          </p:cNvPr>
          <p:cNvSpPr txBox="1"/>
          <p:nvPr/>
        </p:nvSpPr>
        <p:spPr>
          <a:xfrm>
            <a:off x="2984091" y="6086373"/>
            <a:ext cx="6096000" cy="458074"/>
          </a:xfrm>
          <a:prstGeom prst="rect">
            <a:avLst/>
          </a:prstGeom>
          <a:noFill/>
        </p:spPr>
        <p:txBody>
          <a:bodyPr wrap="square">
            <a:spAutoFit/>
          </a:bodyPr>
          <a:lstStyle/>
          <a:p>
            <a:pPr marL="8255" marR="7620" indent="-6350" algn="ctr">
              <a:lnSpc>
                <a:spcPct val="150000"/>
              </a:lnSpc>
            </a:pPr>
            <a:r>
              <a:rPr lang="en-IN" sz="1800" b="1" kern="100" dirty="0" smtClean="0">
                <a:solidFill>
                  <a:srgbClr val="000000"/>
                </a:solidFill>
                <a:effectLst/>
                <a:latin typeface="Times New Roman" panose="02020603050405020304" pitchFamily="18" charset="0"/>
                <a:ea typeface="Times New Roman" panose="02020603050405020304" pitchFamily="18" charset="0"/>
              </a:rPr>
              <a:t>2025-26</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36360602"/>
      </p:ext>
    </p:extLst>
  </p:cSld>
  <p:clrMapOvr>
    <a:masterClrMapping/>
  </p:clrMapOvr>
  <p:transition spd="slow">
    <p:wheel spokes="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C515293-AD54-6E75-429C-8FA53AB58777}"/>
              </a:ext>
            </a:extLst>
          </p:cNvPr>
          <p:cNvSpPr txBox="1"/>
          <p:nvPr/>
        </p:nvSpPr>
        <p:spPr>
          <a:xfrm>
            <a:off x="2451494" y="306267"/>
            <a:ext cx="2061783" cy="523220"/>
          </a:xfrm>
          <a:prstGeom prst="rect">
            <a:avLst/>
          </a:prstGeom>
          <a:noFill/>
        </p:spPr>
        <p:txBody>
          <a:bodyPr wrap="none" rtlCol="0">
            <a:spAutoFit/>
          </a:bodyPr>
          <a:lstStyle/>
          <a:p>
            <a:r>
              <a:rPr lang="en-IN" sz="2800" dirty="0">
                <a:latin typeface="Times New Roman" panose="02020603050405020304" pitchFamily="18" charset="0"/>
                <a:cs typeface="Times New Roman" panose="02020603050405020304" pitchFamily="18" charset="0"/>
              </a:rPr>
              <a:t>CONTENTS</a:t>
            </a:r>
          </a:p>
        </p:txBody>
      </p:sp>
      <p:sp>
        <p:nvSpPr>
          <p:cNvPr id="5" name="TextBox 4">
            <a:extLst>
              <a:ext uri="{FF2B5EF4-FFF2-40B4-BE49-F238E27FC236}">
                <a16:creationId xmlns="" xmlns:a16="http://schemas.microsoft.com/office/drawing/2014/main" id="{EDC395C1-1DB7-271E-44F5-50D7589903A8}"/>
              </a:ext>
            </a:extLst>
          </p:cNvPr>
          <p:cNvSpPr txBox="1"/>
          <p:nvPr/>
        </p:nvSpPr>
        <p:spPr>
          <a:xfrm>
            <a:off x="1262018" y="919653"/>
            <a:ext cx="2378951" cy="461665"/>
          </a:xfrm>
          <a:prstGeom prst="rect">
            <a:avLst/>
          </a:prstGeom>
          <a:noFill/>
        </p:spPr>
        <p:txBody>
          <a:bodyPr wrap="square" rtlCol="0">
            <a:spAutoFit/>
          </a:bodyPr>
          <a:lstStyle/>
          <a:p>
            <a:pPr marL="914400" lvl="1" indent="-457200" algn="ct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AIM</a:t>
            </a:r>
          </a:p>
        </p:txBody>
      </p:sp>
      <p:sp>
        <p:nvSpPr>
          <p:cNvPr id="6" name="TextBox 5">
            <a:extLst>
              <a:ext uri="{FF2B5EF4-FFF2-40B4-BE49-F238E27FC236}">
                <a16:creationId xmlns="" xmlns:a16="http://schemas.microsoft.com/office/drawing/2014/main" id="{E27FA31F-5742-DC56-F0B8-14F97143B4E0}"/>
              </a:ext>
            </a:extLst>
          </p:cNvPr>
          <p:cNvSpPr txBox="1"/>
          <p:nvPr/>
        </p:nvSpPr>
        <p:spPr>
          <a:xfrm flipH="1">
            <a:off x="1924602" y="1265467"/>
            <a:ext cx="1950099" cy="461665"/>
          </a:xfrm>
          <a:prstGeom prst="rect">
            <a:avLst/>
          </a:prstGeom>
          <a:noFill/>
        </p:spPr>
        <p:txBody>
          <a:bodyPr wrap="square" rtlCol="0">
            <a:spAutoFit/>
          </a:bodyPr>
          <a:lstStyle/>
          <a:p>
            <a:pPr marL="457200" indent="-457200" algn="ctr">
              <a:buFont typeface="Wingdings" panose="05000000000000000000" pitchFamily="2" charset="2"/>
              <a:buChar char="Ø"/>
            </a:pPr>
            <a:r>
              <a:rPr lang="en-IN" sz="2400" dirty="0" smtClean="0">
                <a:latin typeface="Times New Roman" pitchFamily="18" charset="0"/>
                <a:cs typeface="Times New Roman" panose="02020603050405020304" pitchFamily="18" charset="0"/>
              </a:rPr>
              <a:t>SCOPE </a:t>
            </a:r>
            <a:endParaRPr lang="en-IN" sz="2400" dirty="0">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952863DA-7B07-CF69-BA82-D477483917C1}"/>
              </a:ext>
            </a:extLst>
          </p:cNvPr>
          <p:cNvSpPr txBox="1"/>
          <p:nvPr/>
        </p:nvSpPr>
        <p:spPr>
          <a:xfrm>
            <a:off x="2060303" y="1623481"/>
            <a:ext cx="2459328" cy="461665"/>
          </a:xfrm>
          <a:prstGeom prst="rect">
            <a:avLst/>
          </a:prstGeom>
          <a:noFill/>
        </p:spPr>
        <p:txBody>
          <a:bodyPr wrap="none" rtlCol="0">
            <a:spAutoFit/>
          </a:bodyPr>
          <a:lstStyle/>
          <a:p>
            <a:pPr marL="457200" indent="-4572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OBJECTIVES</a:t>
            </a:r>
          </a:p>
        </p:txBody>
      </p:sp>
      <p:sp>
        <p:nvSpPr>
          <p:cNvPr id="8" name="TextBox 7">
            <a:extLst>
              <a:ext uri="{FF2B5EF4-FFF2-40B4-BE49-F238E27FC236}">
                <a16:creationId xmlns="" xmlns:a16="http://schemas.microsoft.com/office/drawing/2014/main" id="{F2449040-F20A-CF76-181E-ABC654076346}"/>
              </a:ext>
            </a:extLst>
          </p:cNvPr>
          <p:cNvSpPr txBox="1"/>
          <p:nvPr/>
        </p:nvSpPr>
        <p:spPr>
          <a:xfrm>
            <a:off x="2021310" y="3638788"/>
            <a:ext cx="3042821" cy="461665"/>
          </a:xfrm>
          <a:prstGeom prst="rect">
            <a:avLst/>
          </a:prstGeom>
          <a:noFill/>
        </p:spPr>
        <p:txBody>
          <a:bodyPr wrap="none" rtlCol="0">
            <a:spAutoFit/>
          </a:bodyPr>
          <a:lstStyle/>
          <a:p>
            <a:pPr marL="457200" indent="-4572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METHODOLOGY</a:t>
            </a:r>
          </a:p>
        </p:txBody>
      </p:sp>
      <p:sp>
        <p:nvSpPr>
          <p:cNvPr id="9" name="TextBox 8">
            <a:extLst>
              <a:ext uri="{FF2B5EF4-FFF2-40B4-BE49-F238E27FC236}">
                <a16:creationId xmlns="" xmlns:a16="http://schemas.microsoft.com/office/drawing/2014/main" id="{D0CF62D7-9CBC-0448-65F1-34D940D8B506}"/>
              </a:ext>
            </a:extLst>
          </p:cNvPr>
          <p:cNvSpPr txBox="1"/>
          <p:nvPr/>
        </p:nvSpPr>
        <p:spPr>
          <a:xfrm>
            <a:off x="1976002" y="4031966"/>
            <a:ext cx="7276094" cy="461665"/>
          </a:xfrm>
          <a:prstGeom prst="rect">
            <a:avLst/>
          </a:prstGeom>
          <a:noFill/>
        </p:spPr>
        <p:txBody>
          <a:bodyPr wrap="none" rtlCol="0">
            <a:spAutoFit/>
          </a:bodyPr>
          <a:lstStyle/>
          <a:p>
            <a:pPr marL="457200" indent="-4572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HARDWARE AND SOFTWARE REQUIREMENTS</a:t>
            </a:r>
          </a:p>
        </p:txBody>
      </p:sp>
      <p:sp>
        <p:nvSpPr>
          <p:cNvPr id="10" name="TextBox 9">
            <a:extLst>
              <a:ext uri="{FF2B5EF4-FFF2-40B4-BE49-F238E27FC236}">
                <a16:creationId xmlns="" xmlns:a16="http://schemas.microsoft.com/office/drawing/2014/main" id="{63DC53D5-66EE-6D49-F287-70A11652A0D5}"/>
              </a:ext>
            </a:extLst>
          </p:cNvPr>
          <p:cNvSpPr txBox="1"/>
          <p:nvPr/>
        </p:nvSpPr>
        <p:spPr>
          <a:xfrm>
            <a:off x="1988114" y="4788822"/>
            <a:ext cx="3437736" cy="461665"/>
          </a:xfrm>
          <a:prstGeom prst="rect">
            <a:avLst/>
          </a:prstGeom>
          <a:noFill/>
        </p:spPr>
        <p:txBody>
          <a:bodyPr wrap="none" rtlCol="0">
            <a:spAutoFit/>
          </a:bodyPr>
          <a:lstStyle/>
          <a:p>
            <a:pPr marL="457200" indent="-4572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RESULT</a:t>
            </a:r>
            <a:r>
              <a:rPr lang="en-IN" sz="2400" dirty="0"/>
              <a:t> </a:t>
            </a:r>
            <a:r>
              <a:rPr lang="en-IN" sz="2400" dirty="0">
                <a:latin typeface="Times New Roman" panose="02020603050405020304" pitchFamily="18" charset="0"/>
                <a:cs typeface="Times New Roman" panose="02020603050405020304" pitchFamily="18" charset="0"/>
              </a:rPr>
              <a:t>EXPECTED</a:t>
            </a:r>
          </a:p>
        </p:txBody>
      </p:sp>
      <p:sp>
        <p:nvSpPr>
          <p:cNvPr id="3" name="TextBox 2"/>
          <p:cNvSpPr txBox="1"/>
          <p:nvPr/>
        </p:nvSpPr>
        <p:spPr>
          <a:xfrm>
            <a:off x="2021310" y="1947101"/>
            <a:ext cx="6713623" cy="461665"/>
          </a:xfrm>
          <a:prstGeom prst="rect">
            <a:avLst/>
          </a:prstGeom>
          <a:noFill/>
        </p:spPr>
        <p:txBody>
          <a:bodyPr wrap="square" rtlCol="0">
            <a:spAutoFit/>
          </a:bodyPr>
          <a:lstStyle/>
          <a:p>
            <a:pPr marL="457200" indent="-457200">
              <a:buFont typeface="Wingdings" pitchFamily="2" charset="2"/>
              <a:buChar char="Ø"/>
            </a:pPr>
            <a:r>
              <a:rPr lang="en-IN" sz="2400" dirty="0" smtClean="0">
                <a:latin typeface="Times New Roman" pitchFamily="18" charset="0"/>
                <a:cs typeface="Times New Roman" pitchFamily="18" charset="0"/>
              </a:rPr>
              <a:t>LITERATURE SURVEY</a:t>
            </a:r>
            <a:endParaRPr lang="en-IN" sz="2400" dirty="0">
              <a:latin typeface="Times New Roman" pitchFamily="18" charset="0"/>
              <a:cs typeface="Times New Roman" pitchFamily="18" charset="0"/>
            </a:endParaRPr>
          </a:p>
        </p:txBody>
      </p:sp>
      <p:sp>
        <p:nvSpPr>
          <p:cNvPr id="11" name="TextBox 10"/>
          <p:cNvSpPr txBox="1"/>
          <p:nvPr/>
        </p:nvSpPr>
        <p:spPr>
          <a:xfrm>
            <a:off x="2021310" y="3201290"/>
            <a:ext cx="5503431" cy="461665"/>
          </a:xfrm>
          <a:prstGeom prst="rect">
            <a:avLst/>
          </a:prstGeom>
          <a:noFill/>
        </p:spPr>
        <p:txBody>
          <a:bodyPr wrap="none" rtlCol="0">
            <a:spAutoFit/>
          </a:bodyPr>
          <a:lstStyle/>
          <a:p>
            <a:pPr marL="457200" indent="-457200" algn="ctr">
              <a:buFont typeface="Wingdings" pitchFamily="2" charset="2"/>
              <a:buChar char="Ø"/>
            </a:pPr>
            <a:r>
              <a:rPr lang="en-IN" sz="2400" dirty="0" smtClean="0">
                <a:latin typeface="Times New Roman" pitchFamily="18" charset="0"/>
                <a:cs typeface="Times New Roman" pitchFamily="18" charset="0"/>
              </a:rPr>
              <a:t>Functionalities and Non Functionalities</a:t>
            </a:r>
            <a:endParaRPr lang="en-IN" sz="2400" dirty="0">
              <a:latin typeface="Times New Roman" pitchFamily="18" charset="0"/>
              <a:cs typeface="Times New Roman" pitchFamily="18" charset="0"/>
            </a:endParaRPr>
          </a:p>
        </p:txBody>
      </p:sp>
      <p:sp>
        <p:nvSpPr>
          <p:cNvPr id="13" name="TextBox 12"/>
          <p:cNvSpPr txBox="1"/>
          <p:nvPr/>
        </p:nvSpPr>
        <p:spPr>
          <a:xfrm>
            <a:off x="2021310" y="2388877"/>
            <a:ext cx="5056510" cy="461665"/>
          </a:xfrm>
          <a:prstGeom prst="rect">
            <a:avLst/>
          </a:prstGeom>
          <a:noFill/>
        </p:spPr>
        <p:txBody>
          <a:bodyPr wrap="square" rtlCol="0">
            <a:spAutoFit/>
          </a:bodyPr>
          <a:lstStyle/>
          <a:p>
            <a:pPr marL="342900" indent="-342900">
              <a:buFont typeface="Wingdings" pitchFamily="2" charset="2"/>
              <a:buChar char="Ø"/>
            </a:pPr>
            <a:r>
              <a:rPr lang="en-IN" sz="2400" dirty="0" smtClean="0">
                <a:latin typeface="Times New Roman" pitchFamily="18" charset="0"/>
                <a:cs typeface="Times New Roman" pitchFamily="18" charset="0"/>
              </a:rPr>
              <a:t>Draw Backs of Existing Application</a:t>
            </a:r>
            <a:endParaRPr lang="en-IN" sz="2400" dirty="0">
              <a:latin typeface="Times New Roman" pitchFamily="18" charset="0"/>
              <a:cs typeface="Times New Roman" pitchFamily="18" charset="0"/>
            </a:endParaRPr>
          </a:p>
        </p:txBody>
      </p:sp>
      <p:sp>
        <p:nvSpPr>
          <p:cNvPr id="15" name="TextBox 14"/>
          <p:cNvSpPr txBox="1"/>
          <p:nvPr/>
        </p:nvSpPr>
        <p:spPr>
          <a:xfrm>
            <a:off x="2028219" y="2773190"/>
            <a:ext cx="5050422" cy="461665"/>
          </a:xfrm>
          <a:prstGeom prst="rect">
            <a:avLst/>
          </a:prstGeom>
          <a:noFill/>
        </p:spPr>
        <p:txBody>
          <a:bodyPr wrap="none" rtlCol="0">
            <a:spAutoFit/>
          </a:bodyPr>
          <a:lstStyle/>
          <a:p>
            <a:pPr marL="342900" indent="-342900">
              <a:buFont typeface="Wingdings" pitchFamily="2" charset="2"/>
              <a:buChar char="Ø"/>
            </a:pPr>
            <a:r>
              <a:rPr lang="en-IN" sz="2400" dirty="0" smtClean="0">
                <a:latin typeface="Times New Roman" pitchFamily="18" charset="0"/>
                <a:cs typeface="Times New Roman" pitchFamily="18" charset="0"/>
              </a:rPr>
              <a:t>Advantages of Proposed Application</a:t>
            </a:r>
            <a:endParaRPr lang="en-IN" sz="2400" dirty="0">
              <a:latin typeface="Times New Roman" pitchFamily="18" charset="0"/>
              <a:cs typeface="Times New Roman" pitchFamily="18" charset="0"/>
            </a:endParaRPr>
          </a:p>
        </p:txBody>
      </p:sp>
      <p:sp>
        <p:nvSpPr>
          <p:cNvPr id="16" name="TextBox 15"/>
          <p:cNvSpPr txBox="1"/>
          <p:nvPr/>
        </p:nvSpPr>
        <p:spPr>
          <a:xfrm>
            <a:off x="1976002" y="4413419"/>
            <a:ext cx="6245764" cy="461665"/>
          </a:xfrm>
          <a:prstGeom prst="rect">
            <a:avLst/>
          </a:prstGeom>
          <a:noFill/>
        </p:spPr>
        <p:txBody>
          <a:bodyPr wrap="square" rtlCol="0">
            <a:spAutoFit/>
          </a:bodyPr>
          <a:lstStyle/>
          <a:p>
            <a:pPr marL="342900" indent="-342900">
              <a:buFont typeface="Wingdings" pitchFamily="2" charset="2"/>
              <a:buChar char="Ø"/>
            </a:pPr>
            <a:r>
              <a:rPr lang="en-IN" sz="2400" dirty="0" smtClean="0">
                <a:latin typeface="Times New Roman" pitchFamily="18" charset="0"/>
                <a:cs typeface="Times New Roman" pitchFamily="18" charset="0"/>
              </a:rPr>
              <a:t>Coding</a:t>
            </a:r>
            <a:endParaRPr lang="en-IN" sz="2400" dirty="0">
              <a:latin typeface="Times New Roman" pitchFamily="18" charset="0"/>
              <a:cs typeface="Times New Roman" pitchFamily="18" charset="0"/>
            </a:endParaRPr>
          </a:p>
        </p:txBody>
      </p:sp>
      <p:sp>
        <p:nvSpPr>
          <p:cNvPr id="17" name="TextBox 16"/>
          <p:cNvSpPr txBox="1"/>
          <p:nvPr/>
        </p:nvSpPr>
        <p:spPr>
          <a:xfrm>
            <a:off x="2060303" y="5202170"/>
            <a:ext cx="2693313" cy="461665"/>
          </a:xfrm>
          <a:prstGeom prst="rect">
            <a:avLst/>
          </a:prstGeom>
          <a:noFill/>
        </p:spPr>
        <p:txBody>
          <a:bodyPr wrap="square" rtlCol="0">
            <a:spAutoFit/>
          </a:bodyPr>
          <a:lstStyle/>
          <a:p>
            <a:pPr marL="342900" indent="-342900">
              <a:buFont typeface="Wingdings" pitchFamily="2" charset="2"/>
              <a:buChar char="Ø"/>
            </a:pPr>
            <a:r>
              <a:rPr lang="en-IN" sz="2400" dirty="0" smtClean="0">
                <a:latin typeface="Times New Roman" pitchFamily="18" charset="0"/>
                <a:cs typeface="Times New Roman" pitchFamily="18" charset="0"/>
              </a:rPr>
              <a:t>Conclusion</a:t>
            </a:r>
            <a:endParaRPr lang="en-IN" sz="2400" dirty="0">
              <a:latin typeface="Times New Roman" pitchFamily="18" charset="0"/>
              <a:cs typeface="Times New Roman" pitchFamily="18" charset="0"/>
            </a:endParaRPr>
          </a:p>
        </p:txBody>
      </p:sp>
      <p:sp>
        <p:nvSpPr>
          <p:cNvPr id="18" name="TextBox 17"/>
          <p:cNvSpPr txBox="1"/>
          <p:nvPr/>
        </p:nvSpPr>
        <p:spPr>
          <a:xfrm>
            <a:off x="2021310" y="5594019"/>
            <a:ext cx="1891865" cy="461665"/>
          </a:xfrm>
          <a:prstGeom prst="rect">
            <a:avLst/>
          </a:prstGeom>
          <a:noFill/>
        </p:spPr>
        <p:txBody>
          <a:bodyPr wrap="none" rtlCol="0">
            <a:spAutoFit/>
          </a:bodyPr>
          <a:lstStyle/>
          <a:p>
            <a:pPr marL="342900" indent="-342900">
              <a:buFont typeface="Wingdings" pitchFamily="2" charset="2"/>
              <a:buChar char="Ø"/>
            </a:pPr>
            <a:r>
              <a:rPr lang="en-IN" sz="2400" dirty="0" err="1" smtClean="0">
                <a:latin typeface="Times New Roman" pitchFamily="18" charset="0"/>
                <a:cs typeface="Times New Roman" pitchFamily="18" charset="0"/>
              </a:rPr>
              <a:t>Reference</a:t>
            </a:r>
            <a:r>
              <a:rPr lang="en-IN" dirty="0" err="1" smtClean="0"/>
              <a:t>S</a:t>
            </a:r>
            <a:endParaRPr lang="en-IN" dirty="0"/>
          </a:p>
        </p:txBody>
      </p:sp>
    </p:spTree>
    <p:extLst>
      <p:ext uri="{BB962C8B-B14F-4D97-AF65-F5344CB8AC3E}">
        <p14:creationId xmlns:p14="http://schemas.microsoft.com/office/powerpoint/2010/main" val="3995757430"/>
      </p:ext>
    </p:extLst>
  </p:cSld>
  <p:clrMapOvr>
    <a:masterClrMapping/>
  </p:clrMapOvr>
  <p:transition spd="slow">
    <p:wheel spokes="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74E6F03-27E5-C286-7A7D-78FD3A6D4466}"/>
              </a:ext>
            </a:extLst>
          </p:cNvPr>
          <p:cNvSpPr txBox="1"/>
          <p:nvPr/>
        </p:nvSpPr>
        <p:spPr>
          <a:xfrm>
            <a:off x="2419745" y="413657"/>
            <a:ext cx="1203649" cy="923330"/>
          </a:xfrm>
          <a:prstGeom prst="rect">
            <a:avLst/>
          </a:prstGeom>
          <a:noFill/>
        </p:spPr>
        <p:txBody>
          <a:bodyPr wrap="square" rtlCol="0">
            <a:spAutoFit/>
          </a:bodyPr>
          <a:lstStyle/>
          <a:p>
            <a:pPr>
              <a:lnSpc>
                <a:spcPct val="150000"/>
              </a:lnSpc>
              <a:tabLst>
                <a:tab pos="342900" algn="l"/>
              </a:tabLst>
            </a:pPr>
            <a:r>
              <a:rPr lang="en-US" sz="3600" u="sng" kern="0" spc="-20" dirty="0">
                <a:effectLst/>
                <a:latin typeface="Times New Roman" panose="02020603050405020304" pitchFamily="18" charset="0"/>
              </a:rPr>
              <a:t>AIM</a:t>
            </a:r>
            <a:r>
              <a:rPr lang="en-US" sz="3200" u="sng" kern="0" spc="-20" dirty="0">
                <a:effectLst/>
                <a:latin typeface="Times New Roman" panose="02020603050405020304" pitchFamily="18" charset="0"/>
              </a:rPr>
              <a:t>:</a:t>
            </a:r>
            <a:endParaRPr lang="en-IN" sz="3200" u="sng" kern="0" dirty="0">
              <a:effectLst/>
              <a:latin typeface="Times New Roman" panose="02020603050405020304" pitchFamily="18" charset="0"/>
            </a:endParaRPr>
          </a:p>
        </p:txBody>
      </p:sp>
      <p:sp>
        <p:nvSpPr>
          <p:cNvPr id="7" name="TextBox 6">
            <a:extLst>
              <a:ext uri="{FF2B5EF4-FFF2-40B4-BE49-F238E27FC236}">
                <a16:creationId xmlns="" xmlns:a16="http://schemas.microsoft.com/office/drawing/2014/main" id="{E1BDA970-FF88-DC70-B844-97BC0547B569}"/>
              </a:ext>
            </a:extLst>
          </p:cNvPr>
          <p:cNvSpPr txBox="1"/>
          <p:nvPr/>
        </p:nvSpPr>
        <p:spPr>
          <a:xfrm>
            <a:off x="2239353" y="2034074"/>
            <a:ext cx="8453535" cy="2308324"/>
          </a:xfrm>
          <a:prstGeom prst="rect">
            <a:avLst/>
          </a:prstGeom>
          <a:noFill/>
        </p:spPr>
        <p:txBody>
          <a:bodyPr wrap="square">
            <a:spAutoFit/>
          </a:bodyPr>
          <a:lstStyle/>
          <a:p>
            <a:pPr marR="2540" indent="560705" algn="just">
              <a:lnSpc>
                <a:spcPct val="150000"/>
              </a:lnSpc>
              <a:spcBef>
                <a:spcPts val="1455"/>
              </a:spcBef>
            </a:pPr>
            <a:r>
              <a:rPr lang="en-US" sz="2400" dirty="0">
                <a:effectLst/>
                <a:latin typeface="Times New Roman" panose="02020603050405020304" pitchFamily="18" charset="0"/>
                <a:ea typeface="Times New Roman" panose="02020603050405020304" pitchFamily="18" charset="0"/>
              </a:rPr>
              <a:t>To develop</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AI-driven</a:t>
            </a:r>
            <a:r>
              <a:rPr lang="en-US" sz="2400" spc="-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that intelligently</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monitors,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analyzes,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adapts agricultural land use based on changing environmental and soil properties, in order to enhance crop productivity, sustainability, and resilience to climate change.</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7479881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75309EE-FA4B-10F0-F286-7B44A74E3F8E}"/>
              </a:ext>
            </a:extLst>
          </p:cNvPr>
          <p:cNvSpPr txBox="1"/>
          <p:nvPr/>
        </p:nvSpPr>
        <p:spPr>
          <a:xfrm>
            <a:off x="2929815" y="457208"/>
            <a:ext cx="2815276"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SCOPE:</a:t>
            </a:r>
          </a:p>
        </p:txBody>
      </p:sp>
      <p:sp>
        <p:nvSpPr>
          <p:cNvPr id="4" name="TextBox 3">
            <a:extLst>
              <a:ext uri="{FF2B5EF4-FFF2-40B4-BE49-F238E27FC236}">
                <a16:creationId xmlns="" xmlns:a16="http://schemas.microsoft.com/office/drawing/2014/main" id="{562C06E0-3F89-149A-5A69-CFB04CB67053}"/>
              </a:ext>
            </a:extLst>
          </p:cNvPr>
          <p:cNvSpPr txBox="1"/>
          <p:nvPr/>
        </p:nvSpPr>
        <p:spPr>
          <a:xfrm>
            <a:off x="1813249" y="1403492"/>
            <a:ext cx="9367935" cy="1200329"/>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itchFamily="18" charset="0"/>
                <a:cs typeface="Times New Roman" panose="02020603050405020304" pitchFamily="18" charset="0"/>
              </a:rPr>
              <a:t>It will </a:t>
            </a:r>
            <a:r>
              <a:rPr lang="en-US" sz="2400" b="1" dirty="0">
                <a:latin typeface="Times New Roman" panose="02020603050405020304" pitchFamily="18" charset="0"/>
                <a:cs typeface="Times New Roman" panose="02020603050405020304" pitchFamily="18" charset="0"/>
              </a:rPr>
              <a:t>check the land</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weather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ownership changes</a:t>
            </a:r>
            <a:r>
              <a:rPr lang="en-US" sz="2400" dirty="0">
                <a:latin typeface="Times New Roman" panose="02020603050405020304" pitchFamily="18" charset="0"/>
                <a:cs typeface="Times New Roman" panose="02020603050405020304" pitchFamily="18" charset="0"/>
              </a:rPr>
              <a:t> </a:t>
            </a:r>
            <a:r>
              <a:rPr lang="en-US" sz="2400" dirty="0">
                <a:latin typeface="Times New Roman" pitchFamily="18" charset="0"/>
                <a:cs typeface="Times New Roman" pitchFamily="18" charset="0"/>
              </a:rPr>
              <a:t>for crop planning, irrigation strategies, and sustainable land management practices. </a:t>
            </a:r>
            <a:endParaRPr lang="en-IN" sz="2400" dirty="0">
              <a:latin typeface="Times New Roman" pitchFamily="18" charset="0"/>
              <a:cs typeface="Times New Roman" pitchFamily="18" charset="0"/>
            </a:endParaRPr>
          </a:p>
        </p:txBody>
      </p:sp>
      <p:sp>
        <p:nvSpPr>
          <p:cNvPr id="10" name="TextBox 9">
            <a:extLst>
              <a:ext uri="{FF2B5EF4-FFF2-40B4-BE49-F238E27FC236}">
                <a16:creationId xmlns="" xmlns:a16="http://schemas.microsoft.com/office/drawing/2014/main" id="{F0A3C890-1386-1641-8383-A69C03CCE51E}"/>
              </a:ext>
            </a:extLst>
          </p:cNvPr>
          <p:cNvSpPr txBox="1"/>
          <p:nvPr/>
        </p:nvSpPr>
        <p:spPr>
          <a:xfrm>
            <a:off x="1813249" y="2603821"/>
            <a:ext cx="8972939"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will give advice on the best crops to grow and how to take care of the land.</a:t>
            </a:r>
            <a:endParaRPr lang="en-IN" sz="2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 xmlns:a16="http://schemas.microsoft.com/office/drawing/2014/main" id="{F4BE8352-F942-4D0F-9868-17501C59A6AF}"/>
              </a:ext>
            </a:extLst>
          </p:cNvPr>
          <p:cNvSpPr txBox="1"/>
          <p:nvPr/>
        </p:nvSpPr>
        <p:spPr>
          <a:xfrm>
            <a:off x="1813252" y="3489998"/>
            <a:ext cx="8637037"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will help farmers, government workers, and organizations make smart decisions.</a:t>
            </a:r>
            <a:endParaRPr lang="en-IN"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4F80337A-3CD3-8F63-6B0E-F8E0492697CF}"/>
              </a:ext>
            </a:extLst>
          </p:cNvPr>
          <p:cNvSpPr txBox="1"/>
          <p:nvPr/>
        </p:nvSpPr>
        <p:spPr>
          <a:xfrm>
            <a:off x="1813251" y="4476869"/>
            <a:ext cx="8553060"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will not handle land fights or replace real experts, but it will help them.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4826210"/>
      </p:ext>
    </p:extLst>
  </p:cSld>
  <p:clrMapOvr>
    <a:masterClrMapping/>
  </p:clrMapOvr>
  <p:transition spd="slow">
    <p:wheel spokes="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0F093CCA-EB8A-3FCC-6DA5-01C79FE86351}"/>
              </a:ext>
            </a:extLst>
          </p:cNvPr>
          <p:cNvSpPr txBox="1"/>
          <p:nvPr/>
        </p:nvSpPr>
        <p:spPr>
          <a:xfrm>
            <a:off x="1875451" y="233265"/>
            <a:ext cx="3368352" cy="923330"/>
          </a:xfrm>
          <a:prstGeom prst="rect">
            <a:avLst/>
          </a:prstGeom>
          <a:noFill/>
        </p:spPr>
        <p:txBody>
          <a:bodyPr wrap="square" rtlCol="0">
            <a:spAutoFit/>
          </a:bodyPr>
          <a:lstStyle/>
          <a:p>
            <a:r>
              <a:rPr lang="en-US" sz="3600" b="1" i="0" kern="0" spc="-10" dirty="0">
                <a:effectLst/>
                <a:latin typeface="Times New Roman" panose="02020603050405020304" pitchFamily="18" charset="0"/>
                <a:cs typeface="Times New Roman" panose="02020603050405020304" pitchFamily="18" charset="0"/>
              </a:rPr>
              <a:t>OBJECTIVES:</a:t>
            </a:r>
            <a:endParaRPr lang="en-IN" sz="3600" b="1" i="1" kern="0" dirty="0">
              <a:effectLst/>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 xmlns:a16="http://schemas.microsoft.com/office/drawing/2014/main" id="{32F32503-A3EC-2748-2754-07467B4C5670}"/>
              </a:ext>
            </a:extLst>
          </p:cNvPr>
          <p:cNvSpPr txBox="1"/>
          <p:nvPr/>
        </p:nvSpPr>
        <p:spPr>
          <a:xfrm>
            <a:off x="2136715" y="1020164"/>
            <a:ext cx="8425543" cy="830997"/>
          </a:xfrm>
          <a:prstGeom prst="rect">
            <a:avLst/>
          </a:prstGeom>
          <a:noFill/>
        </p:spPr>
        <p:txBody>
          <a:bodyPr wrap="square">
            <a:spAutoFit/>
          </a:bodyPr>
          <a:lstStyle/>
          <a:p>
            <a:pPr marL="285750" indent="-285750">
              <a:buFont typeface="Wingdings" panose="05000000000000000000" pitchFamily="2" charset="2"/>
              <a:buChar char="Ø"/>
            </a:pPr>
            <a:r>
              <a:rPr lang="en-US" dirty="0"/>
              <a:t>	</a:t>
            </a:r>
            <a:r>
              <a:rPr lang="en-US" sz="2400" dirty="0">
                <a:latin typeface="Times New Roman" panose="02020603050405020304" pitchFamily="18" charset="0"/>
                <a:cs typeface="Times New Roman" panose="02020603050405020304" pitchFamily="18" charset="0"/>
              </a:rPr>
              <a:t>To collect real-time information about soil, </a:t>
            </a:r>
            <a:r>
              <a:rPr lang="en-US" sz="2400" dirty="0" smtClean="0">
                <a:latin typeface="Times New Roman" panose="02020603050405020304" pitchFamily="18" charset="0"/>
                <a:cs typeface="Times New Roman" panose="02020603050405020304" pitchFamily="18" charset="0"/>
              </a:rPr>
              <a:t>weather and </a:t>
            </a:r>
            <a:r>
              <a:rPr lang="en-US" sz="2400" dirty="0">
                <a:latin typeface="Times New Roman" panose="02020603050405020304" pitchFamily="18" charset="0"/>
                <a:cs typeface="Times New Roman" panose="02020603050405020304" pitchFamily="18" charset="0"/>
              </a:rPr>
              <a:t>land </a:t>
            </a:r>
            <a:r>
              <a:rPr lang="en-US" sz="24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system.</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092D2EB6-8191-58DF-A007-34ABCB868CA3}"/>
              </a:ext>
            </a:extLst>
          </p:cNvPr>
          <p:cNvSpPr txBox="1"/>
          <p:nvPr/>
        </p:nvSpPr>
        <p:spPr>
          <a:xfrm>
            <a:off x="2136712" y="1783720"/>
            <a:ext cx="8052319" cy="830997"/>
          </a:xfrm>
          <a:prstGeom prst="rect">
            <a:avLst/>
          </a:prstGeom>
          <a:noFill/>
        </p:spPr>
        <p:txBody>
          <a:bodyPr wrap="square">
            <a:spAutoFit/>
          </a:bodyPr>
          <a:lstStyle/>
          <a:p>
            <a:pPr marL="285750" indent="-285750">
              <a:buFont typeface="Wingdings" panose="05000000000000000000" pitchFamily="2" charset="2"/>
              <a:buChar char="Ø"/>
            </a:pPr>
            <a:r>
              <a:rPr lang="en-US" dirty="0"/>
              <a:t>	</a:t>
            </a:r>
            <a:r>
              <a:rPr lang="en-US" sz="2400" dirty="0">
                <a:latin typeface="Times New Roman" panose="02020603050405020304" pitchFamily="18" charset="0"/>
                <a:cs typeface="Times New Roman" panose="02020603050405020304" pitchFamily="18" charset="0"/>
              </a:rPr>
              <a:t>To use artificial intelligence (AI) to study this information and find patterns or changes that affect farming.</a:t>
            </a: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E7BA3622-8523-3F43-12FE-2B833A51ED73}"/>
              </a:ext>
            </a:extLst>
          </p:cNvPr>
          <p:cNvSpPr txBox="1"/>
          <p:nvPr/>
        </p:nvSpPr>
        <p:spPr>
          <a:xfrm>
            <a:off x="2197364" y="2699044"/>
            <a:ext cx="7931019" cy="1200329"/>
          </a:xfrm>
          <a:prstGeom prst="rect">
            <a:avLst/>
          </a:prstGeom>
          <a:noFill/>
        </p:spPr>
        <p:txBody>
          <a:bodyPr wrap="square">
            <a:spAutoFit/>
          </a:bodyPr>
          <a:lstStyle/>
          <a:p>
            <a:pPr marL="285750" indent="-285750">
              <a:buFont typeface="Wingdings" panose="05000000000000000000" pitchFamily="2" charset="2"/>
              <a:buChar char="Ø"/>
            </a:pPr>
            <a:r>
              <a:rPr lang="en-US" dirty="0"/>
              <a:t>	</a:t>
            </a:r>
            <a:r>
              <a:rPr lang="en-US" sz="2400" dirty="0">
                <a:latin typeface="Times New Roman" panose="02020603050405020304" pitchFamily="18" charset="0"/>
                <a:cs typeface="Times New Roman" panose="02020603050405020304" pitchFamily="18" charset="0"/>
              </a:rPr>
              <a:t>To give helpful suggestions to farmers on what crops to grow, how to use water, and how to care for the land based on current conditions.</a:t>
            </a:r>
            <a:endParaRPr lang="en-IN"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2136712" y="3941173"/>
            <a:ext cx="7931019" cy="830997"/>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Combine data from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climate models, and local observations for comprehensive land use analysis.</a:t>
            </a:r>
            <a:endParaRPr lang="en-IN" sz="2400" dirty="0">
              <a:latin typeface="Times New Roman" pitchFamily="18" charset="0"/>
              <a:cs typeface="Times New Roman" pitchFamily="18" charset="0"/>
            </a:endParaRPr>
          </a:p>
        </p:txBody>
      </p:sp>
      <p:sp>
        <p:nvSpPr>
          <p:cNvPr id="5" name="Rectangle 1"/>
          <p:cNvSpPr>
            <a:spLocks noChangeArrowheads="1"/>
          </p:cNvSpPr>
          <p:nvPr/>
        </p:nvSpPr>
        <p:spPr bwMode="auto">
          <a:xfrm>
            <a:off x="5" y="-323165"/>
            <a:ext cx="13482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charset="0"/>
                <a:cs typeface="Arial" charset="0"/>
              </a:rPr>
              <a:t>Design the system to be scalable across different regions with localized adaptation based on specific climatic and land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Rectangle 6"/>
          <p:cNvSpPr/>
          <p:nvPr/>
        </p:nvSpPr>
        <p:spPr>
          <a:xfrm>
            <a:off x="2136712" y="4868787"/>
            <a:ext cx="8425543" cy="1200329"/>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Design the system to be scalable across different regions with localized adaptation based on specific climatic and land conditions.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839865658"/>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556" y="182687"/>
            <a:ext cx="8913813" cy="163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534998" y="1939810"/>
            <a:ext cx="6031489" cy="523220"/>
          </a:xfrm>
          <a:prstGeom prst="rect">
            <a:avLst/>
          </a:prstGeom>
        </p:spPr>
        <p:txBody>
          <a:bodyPr wrap="square">
            <a:spAutoFit/>
          </a:bodyPr>
          <a:lstStyle/>
          <a:p>
            <a:r>
              <a:rPr lang="en-IN" sz="2800" dirty="0">
                <a:latin typeface="Times New Roman" pitchFamily="18" charset="0"/>
                <a:cs typeface="Times New Roman" pitchFamily="18" charset="0"/>
              </a:rPr>
              <a:t>Crop Recommendation Using ML</a:t>
            </a:r>
          </a:p>
        </p:txBody>
      </p:sp>
      <p:sp>
        <p:nvSpPr>
          <p:cNvPr id="4" name="Rectangle 3"/>
          <p:cNvSpPr/>
          <p:nvPr/>
        </p:nvSpPr>
        <p:spPr>
          <a:xfrm>
            <a:off x="2842046" y="2533595"/>
            <a:ext cx="1903085"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Authors:</a:t>
            </a:r>
          </a:p>
        </p:txBody>
      </p:sp>
      <p:sp>
        <p:nvSpPr>
          <p:cNvPr id="5" name="Rectangle 4"/>
          <p:cNvSpPr/>
          <p:nvPr/>
        </p:nvSpPr>
        <p:spPr>
          <a:xfrm>
            <a:off x="2842043" y="3056815"/>
            <a:ext cx="1407052"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Year:</a:t>
            </a:r>
          </a:p>
        </p:txBody>
      </p:sp>
      <p:sp>
        <p:nvSpPr>
          <p:cNvPr id="6" name="Rectangle 5"/>
          <p:cNvSpPr/>
          <p:nvPr/>
        </p:nvSpPr>
        <p:spPr>
          <a:xfrm>
            <a:off x="2842046" y="3560106"/>
            <a:ext cx="2141933"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Summary:</a:t>
            </a:r>
          </a:p>
        </p:txBody>
      </p:sp>
      <p:sp>
        <p:nvSpPr>
          <p:cNvPr id="7" name="Rectangle 6"/>
          <p:cNvSpPr/>
          <p:nvPr/>
        </p:nvSpPr>
        <p:spPr>
          <a:xfrm>
            <a:off x="4691879" y="2607412"/>
            <a:ext cx="1420582" cy="461665"/>
          </a:xfrm>
          <a:prstGeom prst="rect">
            <a:avLst/>
          </a:prstGeom>
        </p:spPr>
        <p:txBody>
          <a:bodyPr wrap="none">
            <a:spAutoFit/>
          </a:bodyPr>
          <a:lstStyle/>
          <a:p>
            <a:r>
              <a:rPr lang="en-IN" sz="2400" dirty="0" err="1" smtClean="0">
                <a:latin typeface="Times New Roman" pitchFamily="18" charset="0"/>
                <a:cs typeface="Times New Roman" pitchFamily="18" charset="0"/>
              </a:rPr>
              <a:t>Patil</a:t>
            </a:r>
            <a:r>
              <a:rPr lang="en-IN" sz="2400" dirty="0">
                <a:latin typeface="Times New Roman" pitchFamily="18" charset="0"/>
                <a:cs typeface="Times New Roman" pitchFamily="18" charset="0"/>
              </a:rPr>
              <a:t> </a:t>
            </a:r>
            <a:r>
              <a:rPr lang="en-IN" sz="2400" dirty="0" smtClean="0">
                <a:latin typeface="Times New Roman" pitchFamily="18" charset="0"/>
                <a:cs typeface="Times New Roman" pitchFamily="18" charset="0"/>
              </a:rPr>
              <a:t>et </a:t>
            </a:r>
            <a:r>
              <a:rPr lang="en-IN" sz="2400" dirty="0">
                <a:latin typeface="Times New Roman" pitchFamily="18" charset="0"/>
                <a:cs typeface="Times New Roman" pitchFamily="18" charset="0"/>
              </a:rPr>
              <a:t>al.</a:t>
            </a:r>
          </a:p>
        </p:txBody>
      </p:sp>
      <p:sp>
        <p:nvSpPr>
          <p:cNvPr id="8" name="Rectangle 7"/>
          <p:cNvSpPr/>
          <p:nvPr/>
        </p:nvSpPr>
        <p:spPr>
          <a:xfrm>
            <a:off x="4249098" y="3138909"/>
            <a:ext cx="800219" cy="461665"/>
          </a:xfrm>
          <a:prstGeom prst="rect">
            <a:avLst/>
          </a:prstGeom>
        </p:spPr>
        <p:txBody>
          <a:bodyPr wrap="none">
            <a:spAutoFit/>
          </a:bodyPr>
          <a:lstStyle/>
          <a:p>
            <a:r>
              <a:rPr lang="en-IN" sz="2400" dirty="0">
                <a:latin typeface="Times New Roman" pitchFamily="18" charset="0"/>
                <a:cs typeface="Times New Roman" pitchFamily="18" charset="0"/>
              </a:rPr>
              <a:t>2020</a:t>
            </a:r>
          </a:p>
        </p:txBody>
      </p:sp>
      <p:sp>
        <p:nvSpPr>
          <p:cNvPr id="9" name="Rectangle 8"/>
          <p:cNvSpPr/>
          <p:nvPr/>
        </p:nvSpPr>
        <p:spPr>
          <a:xfrm>
            <a:off x="3416971" y="4021357"/>
            <a:ext cx="7636460" cy="1569660"/>
          </a:xfrm>
          <a:prstGeom prst="rect">
            <a:avLst/>
          </a:prstGeom>
        </p:spPr>
        <p:txBody>
          <a:bodyPr wrap="square">
            <a:spAutoFit/>
          </a:bodyPr>
          <a:lstStyle/>
          <a:p>
            <a:r>
              <a:rPr lang="en-US" sz="2400" dirty="0">
                <a:latin typeface="Times New Roman" pitchFamily="18" charset="0"/>
                <a:cs typeface="Times New Roman" pitchFamily="18" charset="0"/>
              </a:rPr>
              <a:t>Used Support Vector Machines (SVM) to develop a system that recommends crops based on soil and climatic conditions. Showed good accuracy in yield prediction and land suitability classification.</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248458912"/>
      </p:ext>
    </p:extLst>
  </p:cSld>
  <p:clrMapOvr>
    <a:masterClrMapping/>
  </p:clrMapOvr>
  <p:transition spd="slow">
    <p:wheel spokes="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32399" y="576408"/>
            <a:ext cx="4336444" cy="523220"/>
          </a:xfrm>
          <a:prstGeom prst="rect">
            <a:avLst/>
          </a:prstGeom>
        </p:spPr>
        <p:txBody>
          <a:bodyPr wrap="none">
            <a:spAutoFit/>
          </a:bodyPr>
          <a:lstStyle/>
          <a:p>
            <a:r>
              <a:rPr lang="en-IN" sz="2800" dirty="0" smtClean="0">
                <a:latin typeface="Times New Roman" pitchFamily="18" charset="0"/>
                <a:cs typeface="Times New Roman" pitchFamily="18" charset="0"/>
              </a:rPr>
              <a:t>  Climate-Resilient </a:t>
            </a:r>
            <a:r>
              <a:rPr lang="en-IN" sz="2800" dirty="0">
                <a:latin typeface="Times New Roman" pitchFamily="18" charset="0"/>
                <a:cs typeface="Times New Roman" pitchFamily="18" charset="0"/>
              </a:rPr>
              <a:t>Cropping</a:t>
            </a:r>
          </a:p>
        </p:txBody>
      </p:sp>
      <p:sp>
        <p:nvSpPr>
          <p:cNvPr id="3" name="Rectangle 2"/>
          <p:cNvSpPr/>
          <p:nvPr/>
        </p:nvSpPr>
        <p:spPr>
          <a:xfrm>
            <a:off x="3165477" y="1281499"/>
            <a:ext cx="1903085"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Authors:</a:t>
            </a:r>
          </a:p>
        </p:txBody>
      </p:sp>
      <p:sp>
        <p:nvSpPr>
          <p:cNvPr id="4" name="Rectangle 3"/>
          <p:cNvSpPr/>
          <p:nvPr/>
        </p:nvSpPr>
        <p:spPr>
          <a:xfrm>
            <a:off x="3162883" y="1840632"/>
            <a:ext cx="1407052"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Year: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1" y="2328955"/>
            <a:ext cx="241458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015247" y="1364602"/>
            <a:ext cx="2377574" cy="461665"/>
          </a:xfrm>
          <a:prstGeom prst="rect">
            <a:avLst/>
          </a:prstGeom>
        </p:spPr>
        <p:txBody>
          <a:bodyPr wrap="none">
            <a:spAutoFit/>
          </a:bodyPr>
          <a:lstStyle/>
          <a:p>
            <a:r>
              <a:rPr lang="en-IN" sz="2400" dirty="0" err="1" smtClean="0">
                <a:latin typeface="Times New Roman" pitchFamily="18" charset="0"/>
                <a:cs typeface="Times New Roman" pitchFamily="18" charset="0"/>
              </a:rPr>
              <a:t>Karthikeyan</a:t>
            </a:r>
            <a:r>
              <a:rPr lang="en-IN" sz="2400" dirty="0" smtClean="0">
                <a:latin typeface="Times New Roman" pitchFamily="18" charset="0"/>
                <a:cs typeface="Times New Roman" pitchFamily="18" charset="0"/>
              </a:rPr>
              <a:t> </a:t>
            </a:r>
            <a:r>
              <a:rPr lang="en-IN" sz="2400" dirty="0">
                <a:latin typeface="Times New Roman" pitchFamily="18" charset="0"/>
                <a:cs typeface="Times New Roman" pitchFamily="18" charset="0"/>
              </a:rPr>
              <a:t>et al.</a:t>
            </a:r>
          </a:p>
        </p:txBody>
      </p:sp>
      <p:sp>
        <p:nvSpPr>
          <p:cNvPr id="8" name="Rectangle 7"/>
          <p:cNvSpPr/>
          <p:nvPr/>
        </p:nvSpPr>
        <p:spPr>
          <a:xfrm>
            <a:off x="4569939" y="1902195"/>
            <a:ext cx="800219" cy="461665"/>
          </a:xfrm>
          <a:prstGeom prst="rect">
            <a:avLst/>
          </a:prstGeom>
        </p:spPr>
        <p:txBody>
          <a:bodyPr wrap="none">
            <a:spAutoFit/>
          </a:bodyPr>
          <a:lstStyle/>
          <a:p>
            <a:r>
              <a:rPr lang="en-IN" sz="2400" dirty="0">
                <a:latin typeface="Times New Roman" pitchFamily="18" charset="0"/>
                <a:cs typeface="Times New Roman" pitchFamily="18" charset="0"/>
              </a:rPr>
              <a:t>2022</a:t>
            </a:r>
          </a:p>
        </p:txBody>
      </p:sp>
      <p:sp>
        <p:nvSpPr>
          <p:cNvPr id="9" name="Rectangle 8"/>
          <p:cNvSpPr/>
          <p:nvPr/>
        </p:nvSpPr>
        <p:spPr>
          <a:xfrm>
            <a:off x="3681664" y="2877729"/>
            <a:ext cx="6096000" cy="1569660"/>
          </a:xfrm>
          <a:prstGeom prst="rect">
            <a:avLst/>
          </a:prstGeom>
        </p:spPr>
        <p:txBody>
          <a:bodyPr>
            <a:spAutoFit/>
          </a:bodyPr>
          <a:lstStyle/>
          <a:p>
            <a:r>
              <a:rPr lang="en-US" sz="2400" dirty="0">
                <a:latin typeface="Times New Roman" pitchFamily="18" charset="0"/>
                <a:cs typeface="Times New Roman" pitchFamily="18" charset="0"/>
              </a:rPr>
              <a:t>Used deep learning models (CNNs and LSTMs) to predict monsoon variability. Recommended adaptive cropping patterns to mitigate climate change risks.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749841763"/>
      </p:ext>
    </p:extLst>
  </p:cSld>
  <p:clrMapOvr>
    <a:masterClrMapping/>
  </p:clrMapOvr>
  <p:transition spd="slow">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14231" y="1948935"/>
            <a:ext cx="1903085"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Authors:</a:t>
            </a:r>
          </a:p>
        </p:txBody>
      </p:sp>
      <p:sp>
        <p:nvSpPr>
          <p:cNvPr id="4" name="Rectangle 3"/>
          <p:cNvSpPr/>
          <p:nvPr/>
        </p:nvSpPr>
        <p:spPr>
          <a:xfrm>
            <a:off x="2914231" y="2552672"/>
            <a:ext cx="1407052" cy="523220"/>
          </a:xfrm>
          <a:prstGeom prst="rect">
            <a:avLst/>
          </a:prstGeom>
        </p:spPr>
        <p:txBody>
          <a:bodyPr wrap="none">
            <a:spAutoFit/>
          </a:bodyPr>
          <a:lstStyle/>
          <a:p>
            <a:pPr marL="457200" indent="-457200">
              <a:buFont typeface="Wingdings" pitchFamily="2" charset="2"/>
              <a:buChar char="Ø"/>
            </a:pPr>
            <a:r>
              <a:rPr lang="en-IN" sz="2800" dirty="0" smtClean="0">
                <a:latin typeface="Times New Roman" pitchFamily="18" charset="0"/>
                <a:cs typeface="Times New Roman" pitchFamily="18" charset="0"/>
              </a:rPr>
              <a:t>Year:</a:t>
            </a:r>
            <a:endParaRPr lang="en-IN" sz="28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233" y="3075892"/>
            <a:ext cx="241458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410608" y="1279184"/>
            <a:ext cx="7897996" cy="461665"/>
          </a:xfrm>
          <a:prstGeom prst="rect">
            <a:avLst/>
          </a:prstGeom>
        </p:spPr>
        <p:txBody>
          <a:bodyPr wrap="none">
            <a:spAutoFit/>
          </a:bodyPr>
          <a:lstStyle/>
          <a:p>
            <a:r>
              <a:rPr lang="en-IN" sz="2400" dirty="0" smtClean="0">
                <a:latin typeface="Times New Roman" pitchFamily="18" charset="0"/>
                <a:cs typeface="Times New Roman" pitchFamily="18" charset="0"/>
              </a:rPr>
              <a:t>  AI-Driven Crop Recommendation System for Agriculture 4.0</a:t>
            </a:r>
            <a:endParaRPr lang="en-IN" sz="2400" dirty="0">
              <a:latin typeface="Times New Roman" pitchFamily="18" charset="0"/>
              <a:cs typeface="Times New Roman" pitchFamily="18" charset="0"/>
            </a:endParaRPr>
          </a:p>
        </p:txBody>
      </p:sp>
      <p:sp>
        <p:nvSpPr>
          <p:cNvPr id="6" name="Rectangle 5"/>
          <p:cNvSpPr/>
          <p:nvPr/>
        </p:nvSpPr>
        <p:spPr>
          <a:xfrm>
            <a:off x="4946354" y="2010498"/>
            <a:ext cx="1842171" cy="461665"/>
          </a:xfrm>
          <a:prstGeom prst="rect">
            <a:avLst/>
          </a:prstGeom>
        </p:spPr>
        <p:txBody>
          <a:bodyPr wrap="none">
            <a:spAutoFit/>
          </a:bodyPr>
          <a:lstStyle/>
          <a:p>
            <a:r>
              <a:rPr lang="en-IN" sz="2400" dirty="0">
                <a:latin typeface="Times New Roman" pitchFamily="18" charset="0"/>
                <a:cs typeface="Times New Roman" pitchFamily="18" charset="0"/>
              </a:rPr>
              <a:t> Ibrahim </a:t>
            </a:r>
            <a:r>
              <a:rPr lang="en-IN" sz="2400" dirty="0" err="1">
                <a:latin typeface="Times New Roman" pitchFamily="18" charset="0"/>
                <a:cs typeface="Times New Roman" pitchFamily="18" charset="0"/>
              </a:rPr>
              <a:t>Kok</a:t>
            </a:r>
            <a:endParaRPr lang="en-IN" sz="2400" dirty="0">
              <a:latin typeface="Times New Roman" pitchFamily="18" charset="0"/>
              <a:cs typeface="Times New Roman" pitchFamily="18" charset="0"/>
            </a:endParaRPr>
          </a:p>
        </p:txBody>
      </p:sp>
      <p:sp>
        <p:nvSpPr>
          <p:cNvPr id="7" name="Rectangle 6"/>
          <p:cNvSpPr/>
          <p:nvPr/>
        </p:nvSpPr>
        <p:spPr>
          <a:xfrm>
            <a:off x="4411587" y="2614235"/>
            <a:ext cx="1056700" cy="461665"/>
          </a:xfrm>
          <a:prstGeom prst="rect">
            <a:avLst/>
          </a:prstGeom>
        </p:spPr>
        <p:txBody>
          <a:bodyPr wrap="none">
            <a:spAutoFit/>
          </a:bodyPr>
          <a:lstStyle/>
          <a:p>
            <a:r>
              <a:rPr lang="en-IN" dirty="0"/>
              <a:t> </a:t>
            </a:r>
            <a:r>
              <a:rPr lang="en-IN" sz="2400" dirty="0">
                <a:latin typeface="Times New Roman" pitchFamily="18" charset="0"/>
                <a:cs typeface="Times New Roman" pitchFamily="18" charset="0"/>
              </a:rPr>
              <a:t>(2024)</a:t>
            </a:r>
          </a:p>
        </p:txBody>
      </p:sp>
      <p:sp>
        <p:nvSpPr>
          <p:cNvPr id="8" name="Rectangle 7"/>
          <p:cNvSpPr/>
          <p:nvPr/>
        </p:nvSpPr>
        <p:spPr>
          <a:xfrm>
            <a:off x="3336778" y="3585411"/>
            <a:ext cx="7125719" cy="2308324"/>
          </a:xfrm>
          <a:prstGeom prst="rect">
            <a:avLst/>
          </a:prstGeom>
        </p:spPr>
        <p:txBody>
          <a:bodyPr wrap="square">
            <a:spAutoFit/>
          </a:bodyPr>
          <a:lstStyle/>
          <a:p>
            <a:r>
              <a:rPr lang="en-US" sz="2400" dirty="0">
                <a:latin typeface="Times New Roman" pitchFamily="18" charset="0"/>
                <a:cs typeface="Times New Roman" pitchFamily="18" charset="0"/>
              </a:rPr>
              <a:t>This study introduces </a:t>
            </a:r>
            <a:r>
              <a:rPr lang="en-US" sz="2400" dirty="0" err="1">
                <a:latin typeface="Times New Roman" pitchFamily="18" charset="0"/>
                <a:cs typeface="Times New Roman" pitchFamily="18" charset="0"/>
              </a:rPr>
              <a:t>AgroXAI</a:t>
            </a:r>
            <a:r>
              <a:rPr lang="en-US" sz="2400" dirty="0">
                <a:latin typeface="Times New Roman" pitchFamily="18" charset="0"/>
                <a:cs typeface="Times New Roman" pitchFamily="18" charset="0"/>
              </a:rPr>
              <a:t>, an edge computing-based explainable AI system that recommends suitable crops based on local weather and soil conditions. It emphasizes model transparency through techniques like SHAP and LIME, enhancing trust among farmers and promoting regional crop diversification</a:t>
            </a:r>
            <a:r>
              <a:rPr lang="en-US" dirty="0"/>
              <a:t>.</a:t>
            </a:r>
            <a:endParaRPr lang="en-IN" dirty="0"/>
          </a:p>
        </p:txBody>
      </p:sp>
    </p:spTree>
    <p:extLst>
      <p:ext uri="{BB962C8B-B14F-4D97-AF65-F5344CB8AC3E}">
        <p14:creationId xmlns:p14="http://schemas.microsoft.com/office/powerpoint/2010/main" val="2880033691"/>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82437" y="725724"/>
            <a:ext cx="5039713" cy="523220"/>
          </a:xfrm>
          <a:prstGeom prst="rect">
            <a:avLst/>
          </a:prstGeom>
        </p:spPr>
        <p:txBody>
          <a:bodyPr wrap="none">
            <a:spAutoFit/>
          </a:bodyPr>
          <a:lstStyle/>
          <a:p>
            <a:r>
              <a:rPr lang="en-IN" sz="2800" dirty="0" smtClean="0">
                <a:latin typeface="Times New Roman" pitchFamily="18" charset="0"/>
                <a:cs typeface="Times New Roman" pitchFamily="18" charset="0"/>
              </a:rPr>
              <a:t>  Transfer </a:t>
            </a:r>
            <a:r>
              <a:rPr lang="en-IN" sz="2800" dirty="0">
                <a:latin typeface="Times New Roman" pitchFamily="18" charset="0"/>
                <a:cs typeface="Times New Roman" pitchFamily="18" charset="0"/>
              </a:rPr>
              <a:t>Learning in Agriculture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660" y="1558587"/>
            <a:ext cx="2170113"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053015" y="2241537"/>
            <a:ext cx="1407052" cy="523220"/>
          </a:xfrm>
          <a:prstGeom prst="rect">
            <a:avLst/>
          </a:prstGeom>
        </p:spPr>
        <p:txBody>
          <a:bodyPr wrap="none">
            <a:spAutoFit/>
          </a:bodyPr>
          <a:lstStyle/>
          <a:p>
            <a:pPr marL="457200" lvl="0" indent="-457200">
              <a:buFont typeface="Wingdings" pitchFamily="2" charset="2"/>
              <a:buChar char="Ø"/>
            </a:pPr>
            <a:r>
              <a:rPr lang="en-IN" sz="2800" dirty="0" smtClean="0">
                <a:solidFill>
                  <a:prstClr val="white"/>
                </a:solidFill>
                <a:latin typeface="Times New Roman" pitchFamily="18" charset="0"/>
                <a:cs typeface="Times New Roman" pitchFamily="18" charset="0"/>
              </a:rPr>
              <a:t>Year:</a:t>
            </a:r>
            <a:endParaRPr lang="en-IN" sz="2800" dirty="0">
              <a:solidFill>
                <a:prstClr val="white"/>
              </a:solidFill>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657" y="2789246"/>
            <a:ext cx="2414587"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970345" y="1680231"/>
            <a:ext cx="2441694" cy="461665"/>
          </a:xfrm>
          <a:prstGeom prst="rect">
            <a:avLst/>
          </a:prstGeom>
        </p:spPr>
        <p:txBody>
          <a:bodyPr wrap="none">
            <a:spAutoFit/>
          </a:bodyPr>
          <a:lstStyle/>
          <a:p>
            <a:r>
              <a:rPr lang="en-IN" sz="2400" dirty="0" err="1">
                <a:latin typeface="Times New Roman" pitchFamily="18" charset="0"/>
                <a:cs typeface="Times New Roman" pitchFamily="18" charset="0"/>
              </a:rPr>
              <a:t>Md</a:t>
            </a:r>
            <a:r>
              <a:rPr lang="en-IN" sz="2400" dirty="0">
                <a:latin typeface="Times New Roman" pitchFamily="18" charset="0"/>
                <a:cs typeface="Times New Roman" pitchFamily="18" charset="0"/>
              </a:rPr>
              <a:t> Ismail </a:t>
            </a:r>
            <a:r>
              <a:rPr lang="en-IN" sz="2400" dirty="0" err="1">
                <a:latin typeface="Times New Roman" pitchFamily="18" charset="0"/>
                <a:cs typeface="Times New Roman" pitchFamily="18" charset="0"/>
              </a:rPr>
              <a:t>Hossen</a:t>
            </a:r>
            <a:endParaRPr lang="en-IN" sz="2400" dirty="0">
              <a:latin typeface="Times New Roman" pitchFamily="18" charset="0"/>
              <a:cs typeface="Times New Roman" pitchFamily="18" charset="0"/>
            </a:endParaRPr>
          </a:p>
        </p:txBody>
      </p:sp>
      <p:sp>
        <p:nvSpPr>
          <p:cNvPr id="5" name="Rectangle 4"/>
          <p:cNvSpPr/>
          <p:nvPr/>
        </p:nvSpPr>
        <p:spPr>
          <a:xfrm>
            <a:off x="4584074" y="2266479"/>
            <a:ext cx="1005403" cy="461665"/>
          </a:xfrm>
          <a:prstGeom prst="rect">
            <a:avLst/>
          </a:prstGeom>
        </p:spPr>
        <p:txBody>
          <a:bodyPr wrap="none">
            <a:spAutoFit/>
          </a:bodyPr>
          <a:lstStyle/>
          <a:p>
            <a:r>
              <a:rPr lang="en-IN" sz="2400" dirty="0">
                <a:latin typeface="Times New Roman" pitchFamily="18" charset="0"/>
                <a:cs typeface="Times New Roman" pitchFamily="18" charset="0"/>
              </a:rPr>
              <a:t>(2025)</a:t>
            </a:r>
          </a:p>
        </p:txBody>
      </p:sp>
      <p:sp>
        <p:nvSpPr>
          <p:cNvPr id="6" name="Rectangle 5"/>
          <p:cNvSpPr/>
          <p:nvPr/>
        </p:nvSpPr>
        <p:spPr>
          <a:xfrm>
            <a:off x="3617496" y="3392451"/>
            <a:ext cx="6096000" cy="1938992"/>
          </a:xfrm>
          <a:prstGeom prst="rect">
            <a:avLst/>
          </a:prstGeom>
        </p:spPr>
        <p:txBody>
          <a:bodyPr>
            <a:spAutoFit/>
          </a:bodyPr>
          <a:lstStyle/>
          <a:p>
            <a:r>
              <a:rPr lang="en-US" sz="2400" dirty="0">
                <a:latin typeface="Times New Roman" pitchFamily="18" charset="0"/>
                <a:cs typeface="Times New Roman" pitchFamily="18" charset="0"/>
              </a:rPr>
              <a:t>This comprehensive review discusses the application of transfer learning in agriculture, highlighting its potential to improve model performance across different regions with limited labeled data.</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690981042"/>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3855" y="786807"/>
            <a:ext cx="8649291" cy="523220"/>
          </a:xfrm>
          <a:prstGeom prst="rect">
            <a:avLst/>
          </a:prstGeom>
        </p:spPr>
        <p:txBody>
          <a:bodyPr wrap="none">
            <a:spAutoFit/>
          </a:bodyPr>
          <a:lstStyle/>
          <a:p>
            <a:r>
              <a:rPr lang="en-US" sz="2800" dirty="0" smtClean="0">
                <a:latin typeface="Times New Roman" pitchFamily="18" charset="0"/>
                <a:cs typeface="Times New Roman" pitchFamily="18" charset="0"/>
              </a:rPr>
              <a:t> </a:t>
            </a:r>
            <a:r>
              <a:rPr lang="en-US" dirty="0" smtClean="0"/>
              <a:t> </a:t>
            </a:r>
            <a:r>
              <a:rPr lang="en-US" sz="2800" dirty="0">
                <a:latin typeface="Times New Roman" pitchFamily="18" charset="0"/>
                <a:cs typeface="Times New Roman" pitchFamily="18" charset="0"/>
              </a:rPr>
              <a:t>Integration of </a:t>
            </a:r>
            <a:r>
              <a:rPr lang="en-US" sz="2800" dirty="0" err="1">
                <a:latin typeface="Times New Roman" pitchFamily="18" charset="0"/>
                <a:cs typeface="Times New Roman" pitchFamily="18" charset="0"/>
              </a:rPr>
              <a:t>IoT</a:t>
            </a:r>
            <a:r>
              <a:rPr lang="en-US" sz="2800" dirty="0">
                <a:latin typeface="Times New Roman" pitchFamily="18" charset="0"/>
                <a:cs typeface="Times New Roman" pitchFamily="18" charset="0"/>
              </a:rPr>
              <a:t>-AI Powered Local Weather Forecasting</a:t>
            </a:r>
            <a:endParaRPr lang="en-IN" sz="2800" dirty="0">
              <a:latin typeface="Times New Roman" pitchFamily="18" charset="0"/>
              <a:cs typeface="Times New Roman" pitchFamily="18" charset="0"/>
            </a:endParaRPr>
          </a:p>
        </p:txBody>
      </p:sp>
      <p:sp>
        <p:nvSpPr>
          <p:cNvPr id="3" name="Rectangle 2"/>
          <p:cNvSpPr/>
          <p:nvPr/>
        </p:nvSpPr>
        <p:spPr>
          <a:xfrm>
            <a:off x="4478881" y="1804592"/>
            <a:ext cx="2577950" cy="461665"/>
          </a:xfrm>
          <a:prstGeom prst="rect">
            <a:avLst/>
          </a:prstGeom>
        </p:spPr>
        <p:txBody>
          <a:bodyPr wrap="none">
            <a:spAutoFit/>
          </a:bodyPr>
          <a:lstStyle/>
          <a:p>
            <a:r>
              <a:rPr lang="en-IN" dirty="0"/>
              <a:t> </a:t>
            </a:r>
            <a:r>
              <a:rPr lang="en-IN" sz="2400" dirty="0" err="1">
                <a:latin typeface="Times New Roman" pitchFamily="18" charset="0"/>
                <a:cs typeface="Times New Roman" pitchFamily="18" charset="0"/>
              </a:rPr>
              <a:t>Suman</a:t>
            </a:r>
            <a:r>
              <a:rPr lang="en-IN" sz="2400" dirty="0">
                <a:latin typeface="Times New Roman" pitchFamily="18" charset="0"/>
                <a:cs typeface="Times New Roman" pitchFamily="18" charset="0"/>
              </a:rPr>
              <a:t> Kumar Das</a:t>
            </a:r>
          </a:p>
        </p:txBody>
      </p:sp>
      <p:sp>
        <p:nvSpPr>
          <p:cNvPr id="4" name="Rectangle 3"/>
          <p:cNvSpPr/>
          <p:nvPr/>
        </p:nvSpPr>
        <p:spPr>
          <a:xfrm>
            <a:off x="2505537" y="1712801"/>
            <a:ext cx="1903085"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Authors:</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205" y="2861435"/>
            <a:ext cx="2414587"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505531" y="2348316"/>
            <a:ext cx="1407052" cy="523220"/>
          </a:xfrm>
          <a:prstGeom prst="rect">
            <a:avLst/>
          </a:prstGeom>
        </p:spPr>
        <p:txBody>
          <a:bodyPr wrap="none">
            <a:spAutoFit/>
          </a:bodyPr>
          <a:lstStyle/>
          <a:p>
            <a:pPr marL="457200" indent="-457200">
              <a:buFont typeface="Wingdings" pitchFamily="2" charset="2"/>
              <a:buChar char="Ø"/>
            </a:pPr>
            <a:r>
              <a:rPr lang="en-IN" sz="2800" dirty="0">
                <a:solidFill>
                  <a:prstClr val="white"/>
                </a:solidFill>
                <a:latin typeface="Times New Roman" pitchFamily="18" charset="0"/>
                <a:cs typeface="Times New Roman" pitchFamily="18" charset="0"/>
              </a:rPr>
              <a:t>Year:</a:t>
            </a:r>
            <a:endParaRPr lang="en-IN" dirty="0"/>
          </a:p>
        </p:txBody>
      </p:sp>
      <p:sp>
        <p:nvSpPr>
          <p:cNvPr id="8" name="Rectangle 7"/>
          <p:cNvSpPr/>
          <p:nvPr/>
        </p:nvSpPr>
        <p:spPr>
          <a:xfrm>
            <a:off x="3976188" y="2419111"/>
            <a:ext cx="1005403" cy="461665"/>
          </a:xfrm>
          <a:prstGeom prst="rect">
            <a:avLst/>
          </a:prstGeom>
        </p:spPr>
        <p:txBody>
          <a:bodyPr wrap="none">
            <a:spAutoFit/>
          </a:bodyPr>
          <a:lstStyle/>
          <a:p>
            <a:r>
              <a:rPr lang="en-IN" sz="2400" dirty="0">
                <a:latin typeface="Times New Roman" pitchFamily="18" charset="0"/>
                <a:cs typeface="Times New Roman" pitchFamily="18" charset="0"/>
              </a:rPr>
              <a:t>(2024)</a:t>
            </a:r>
          </a:p>
        </p:txBody>
      </p:sp>
      <p:sp>
        <p:nvSpPr>
          <p:cNvPr id="9" name="Rectangle 8"/>
          <p:cNvSpPr/>
          <p:nvPr/>
        </p:nvSpPr>
        <p:spPr>
          <a:xfrm>
            <a:off x="2967788" y="3428272"/>
            <a:ext cx="7347285" cy="1938992"/>
          </a:xfrm>
          <a:prstGeom prst="rect">
            <a:avLst/>
          </a:prstGeom>
        </p:spPr>
        <p:txBody>
          <a:bodyPr wrap="square">
            <a:spAutoFit/>
          </a:bodyPr>
          <a:lstStyle/>
          <a:p>
            <a:r>
              <a:rPr lang="en-US" sz="2400" dirty="0">
                <a:latin typeface="Times New Roman" pitchFamily="18" charset="0"/>
                <a:cs typeface="Times New Roman" pitchFamily="18" charset="0"/>
              </a:rPr>
              <a:t>The authors propose a framework combining </a:t>
            </a:r>
            <a:r>
              <a:rPr lang="en-US" sz="2400" dirty="0" err="1">
                <a:latin typeface="Times New Roman" pitchFamily="18" charset="0"/>
                <a:cs typeface="Times New Roman" pitchFamily="18" charset="0"/>
              </a:rPr>
              <a:t>IoT</a:t>
            </a:r>
            <a:r>
              <a:rPr lang="en-US" sz="2400" dirty="0">
                <a:latin typeface="Times New Roman" pitchFamily="18" charset="0"/>
                <a:cs typeface="Times New Roman" pitchFamily="18" charset="0"/>
              </a:rPr>
              <a:t> and AI for localized weather forecasting. This integration aims to provide real-time, high-resolution meteorological data, supporting informed decision-making in agriculture and improving overall farm productivity and sustainability.</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22127565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85177" y="789892"/>
            <a:ext cx="6640985" cy="523220"/>
          </a:xfrm>
          <a:prstGeom prst="rect">
            <a:avLst/>
          </a:prstGeom>
        </p:spPr>
        <p:txBody>
          <a:bodyPr wrap="none">
            <a:spAutoFit/>
          </a:bodyPr>
          <a:lstStyle/>
          <a:p>
            <a:r>
              <a:rPr lang="en-US" sz="2800" dirty="0" smtClean="0">
                <a:latin typeface="Times New Roman" pitchFamily="18" charset="0"/>
                <a:cs typeface="Times New Roman" pitchFamily="18" charset="0"/>
              </a:rPr>
              <a:t>  Smart </a:t>
            </a:r>
            <a:r>
              <a:rPr lang="en-US" sz="2800" dirty="0">
                <a:latin typeface="Times New Roman" pitchFamily="18" charset="0"/>
                <a:cs typeface="Times New Roman" pitchFamily="18" charset="0"/>
              </a:rPr>
              <a:t>Farming Using Artificial Intelligence</a:t>
            </a:r>
            <a:endParaRPr lang="en-IN" sz="2800" dirty="0">
              <a:latin typeface="Times New Roman" pitchFamily="18" charset="0"/>
              <a:cs typeface="Times New Roman" pitchFamily="18" charset="0"/>
            </a:endParaRPr>
          </a:p>
        </p:txBody>
      </p:sp>
      <p:sp>
        <p:nvSpPr>
          <p:cNvPr id="3" name="Rectangle 2"/>
          <p:cNvSpPr/>
          <p:nvPr/>
        </p:nvSpPr>
        <p:spPr>
          <a:xfrm>
            <a:off x="3161166" y="1482969"/>
            <a:ext cx="1903085"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Authors:</a:t>
            </a:r>
          </a:p>
        </p:txBody>
      </p:sp>
      <p:sp>
        <p:nvSpPr>
          <p:cNvPr id="4" name="Rectangle 3"/>
          <p:cNvSpPr/>
          <p:nvPr/>
        </p:nvSpPr>
        <p:spPr>
          <a:xfrm>
            <a:off x="3161163" y="2180800"/>
            <a:ext cx="1407052"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Year:</a:t>
            </a:r>
          </a:p>
        </p:txBody>
      </p:sp>
      <p:sp>
        <p:nvSpPr>
          <p:cNvPr id="5" name="Rectangle 4"/>
          <p:cNvSpPr/>
          <p:nvPr/>
        </p:nvSpPr>
        <p:spPr>
          <a:xfrm>
            <a:off x="3161166" y="2990927"/>
            <a:ext cx="2141933"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Summary:</a:t>
            </a:r>
          </a:p>
        </p:txBody>
      </p:sp>
      <p:sp>
        <p:nvSpPr>
          <p:cNvPr id="6" name="Rectangle 5"/>
          <p:cNvSpPr/>
          <p:nvPr/>
        </p:nvSpPr>
        <p:spPr>
          <a:xfrm>
            <a:off x="5198012" y="1544526"/>
            <a:ext cx="2084610" cy="461665"/>
          </a:xfrm>
          <a:prstGeom prst="rect">
            <a:avLst/>
          </a:prstGeom>
        </p:spPr>
        <p:txBody>
          <a:bodyPr wrap="none">
            <a:spAutoFit/>
          </a:bodyPr>
          <a:lstStyle/>
          <a:p>
            <a:r>
              <a:rPr lang="en-IN" sz="2400" dirty="0" err="1">
                <a:latin typeface="Times New Roman" pitchFamily="18" charset="0"/>
                <a:cs typeface="Times New Roman" pitchFamily="18" charset="0"/>
              </a:rPr>
              <a:t>Aruna</a:t>
            </a:r>
            <a:r>
              <a:rPr lang="en-IN" sz="2400" dirty="0">
                <a:latin typeface="Times New Roman" pitchFamily="18" charset="0"/>
                <a:cs typeface="Times New Roman" pitchFamily="18" charset="0"/>
              </a:rPr>
              <a:t> Varanasi</a:t>
            </a:r>
          </a:p>
        </p:txBody>
      </p:sp>
      <p:sp>
        <p:nvSpPr>
          <p:cNvPr id="7" name="Rectangle 6"/>
          <p:cNvSpPr/>
          <p:nvPr/>
        </p:nvSpPr>
        <p:spPr>
          <a:xfrm>
            <a:off x="4719234" y="2254775"/>
            <a:ext cx="1005403" cy="461665"/>
          </a:xfrm>
          <a:prstGeom prst="rect">
            <a:avLst/>
          </a:prstGeom>
        </p:spPr>
        <p:txBody>
          <a:bodyPr wrap="none">
            <a:spAutoFit/>
          </a:bodyPr>
          <a:lstStyle/>
          <a:p>
            <a:r>
              <a:rPr lang="en-IN" sz="2400" dirty="0">
                <a:latin typeface="Times New Roman" pitchFamily="18" charset="0"/>
                <a:cs typeface="Times New Roman" pitchFamily="18" charset="0"/>
              </a:rPr>
              <a:t>(2023)</a:t>
            </a:r>
          </a:p>
        </p:txBody>
      </p:sp>
      <p:sp>
        <p:nvSpPr>
          <p:cNvPr id="8" name="Rectangle 7"/>
          <p:cNvSpPr/>
          <p:nvPr/>
        </p:nvSpPr>
        <p:spPr>
          <a:xfrm>
            <a:off x="3721711" y="3519573"/>
            <a:ext cx="6833999" cy="1938992"/>
          </a:xfrm>
          <a:prstGeom prst="rect">
            <a:avLst/>
          </a:prstGeom>
        </p:spPr>
        <p:txBody>
          <a:bodyPr wrap="square">
            <a:spAutoFit/>
          </a:bodyPr>
          <a:lstStyle/>
          <a:p>
            <a:r>
              <a:rPr lang="en-US" sz="2400" dirty="0">
                <a:latin typeface="Times New Roman" pitchFamily="18" charset="0"/>
                <a:cs typeface="Times New Roman" pitchFamily="18" charset="0"/>
              </a:rPr>
              <a:t>The authors review the applications of AI in smart farming, focusing on areas such as weed and crop discrimination using image analysis. They highlight how AI technologies contribute to precision agriculture and sustainable farming practices.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907931400"/>
      </p:ext>
    </p:extLst>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8908" y="1130976"/>
            <a:ext cx="8887327" cy="954107"/>
          </a:xfrm>
          <a:prstGeom prst="rect">
            <a:avLst/>
          </a:prstGeom>
        </p:spPr>
        <p:txBody>
          <a:bodyPr wrap="square">
            <a:spAutoFit/>
          </a:bodyPr>
          <a:lstStyle/>
          <a:p>
            <a:r>
              <a:rPr lang="en-US" sz="2800" dirty="0" smtClean="0">
                <a:latin typeface="Times New Roman" pitchFamily="18" charset="0"/>
                <a:cs typeface="Times New Roman" pitchFamily="18" charset="0"/>
              </a:rPr>
              <a:t>    A </a:t>
            </a:r>
            <a:r>
              <a:rPr lang="en-US" sz="2800" dirty="0">
                <a:latin typeface="Times New Roman" pitchFamily="18" charset="0"/>
                <a:cs typeface="Times New Roman" pitchFamily="18" charset="0"/>
              </a:rPr>
              <a:t>Systematic Review of the Use of Deep Learning </a:t>
            </a:r>
            <a:r>
              <a:rPr lang="en-US" sz="2800" dirty="0" smtClean="0">
                <a:latin typeface="Times New Roman" pitchFamily="18" charset="0"/>
                <a:cs typeface="Times New Roman" pitchFamily="18" charset="0"/>
              </a:rPr>
              <a:t>in </a:t>
            </a:r>
            <a:r>
              <a:rPr lang="en-US" sz="2800" dirty="0">
                <a:latin typeface="Times New Roman" pitchFamily="18" charset="0"/>
                <a:cs typeface="Times New Roman" pitchFamily="18" charset="0"/>
              </a:rPr>
              <a:t>Satellite Imagery for Agriculture</a:t>
            </a:r>
            <a:endParaRPr lang="en-IN" sz="2800" dirty="0">
              <a:latin typeface="Times New Roman" pitchFamily="18" charset="0"/>
              <a:cs typeface="Times New Roman" pitchFamily="18" charset="0"/>
            </a:endParaRPr>
          </a:p>
        </p:txBody>
      </p:sp>
      <p:sp>
        <p:nvSpPr>
          <p:cNvPr id="3" name="Rectangle 2"/>
          <p:cNvSpPr/>
          <p:nvPr/>
        </p:nvSpPr>
        <p:spPr>
          <a:xfrm>
            <a:off x="2842046" y="2533595"/>
            <a:ext cx="1903085"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Authors:</a:t>
            </a:r>
          </a:p>
        </p:txBody>
      </p:sp>
      <p:sp>
        <p:nvSpPr>
          <p:cNvPr id="4" name="Rectangle 3"/>
          <p:cNvSpPr/>
          <p:nvPr/>
        </p:nvSpPr>
        <p:spPr>
          <a:xfrm>
            <a:off x="2842043" y="3190525"/>
            <a:ext cx="1407052"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Year:</a:t>
            </a:r>
          </a:p>
        </p:txBody>
      </p:sp>
      <p:sp>
        <p:nvSpPr>
          <p:cNvPr id="5" name="Rectangle 4"/>
          <p:cNvSpPr/>
          <p:nvPr/>
        </p:nvSpPr>
        <p:spPr>
          <a:xfrm>
            <a:off x="2842046" y="3856270"/>
            <a:ext cx="2141933"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Summary:</a:t>
            </a:r>
          </a:p>
        </p:txBody>
      </p:sp>
      <p:sp>
        <p:nvSpPr>
          <p:cNvPr id="6" name="Rectangle 5"/>
          <p:cNvSpPr/>
          <p:nvPr/>
        </p:nvSpPr>
        <p:spPr>
          <a:xfrm>
            <a:off x="4915245" y="2595158"/>
            <a:ext cx="2082621" cy="461665"/>
          </a:xfrm>
          <a:prstGeom prst="rect">
            <a:avLst/>
          </a:prstGeom>
        </p:spPr>
        <p:txBody>
          <a:bodyPr wrap="none">
            <a:spAutoFit/>
          </a:bodyPr>
          <a:lstStyle/>
          <a:p>
            <a:r>
              <a:rPr lang="en-IN" sz="2400" dirty="0">
                <a:latin typeface="Times New Roman" pitchFamily="18" charset="0"/>
                <a:cs typeface="Times New Roman" pitchFamily="18" charset="0"/>
              </a:rPr>
              <a:t>Brandon Victor</a:t>
            </a:r>
          </a:p>
        </p:txBody>
      </p:sp>
      <p:sp>
        <p:nvSpPr>
          <p:cNvPr id="7" name="Rectangle 6"/>
          <p:cNvSpPr/>
          <p:nvPr/>
        </p:nvSpPr>
        <p:spPr>
          <a:xfrm>
            <a:off x="4412546" y="3221303"/>
            <a:ext cx="1005403" cy="461665"/>
          </a:xfrm>
          <a:prstGeom prst="rect">
            <a:avLst/>
          </a:prstGeom>
        </p:spPr>
        <p:txBody>
          <a:bodyPr wrap="none">
            <a:spAutoFit/>
          </a:bodyPr>
          <a:lstStyle/>
          <a:p>
            <a:r>
              <a:rPr lang="en-IN" sz="2400" dirty="0">
                <a:latin typeface="Times New Roman" pitchFamily="18" charset="0"/>
                <a:cs typeface="Times New Roman" pitchFamily="18" charset="0"/>
              </a:rPr>
              <a:t>(2024)</a:t>
            </a:r>
          </a:p>
        </p:txBody>
      </p:sp>
      <p:sp>
        <p:nvSpPr>
          <p:cNvPr id="8" name="Rectangle 7"/>
          <p:cNvSpPr/>
          <p:nvPr/>
        </p:nvSpPr>
        <p:spPr>
          <a:xfrm>
            <a:off x="3336762" y="4379490"/>
            <a:ext cx="7419473" cy="1938992"/>
          </a:xfrm>
          <a:prstGeom prst="rect">
            <a:avLst/>
          </a:prstGeom>
        </p:spPr>
        <p:txBody>
          <a:bodyPr wrap="square">
            <a:spAutoFit/>
          </a:bodyPr>
          <a:lstStyle/>
          <a:p>
            <a:r>
              <a:rPr lang="en-US" sz="2400" dirty="0">
                <a:latin typeface="Times New Roman" pitchFamily="18" charset="0"/>
                <a:cs typeface="Times New Roman" pitchFamily="18" charset="0"/>
              </a:rPr>
              <a:t>This systematic review analyzes 150 studies on deep learning applications in satellite imagery for agriculture. It identifies key tasks such as crop segmentation and yield prediction, highlighting the advantages of deep learning over traditional machine learning methods in these areas. </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632753394"/>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25580" y="1074830"/>
            <a:ext cx="7780421" cy="954107"/>
          </a:xfrm>
          <a:prstGeom prst="rect">
            <a:avLst/>
          </a:prstGeom>
        </p:spPr>
        <p:txBody>
          <a:bodyPr wrap="square">
            <a:spAutoFit/>
          </a:bodyPr>
          <a:lstStyle/>
          <a:p>
            <a:r>
              <a:rPr lang="en-US" sz="2800" dirty="0" smtClean="0">
                <a:latin typeface="Times New Roman" pitchFamily="18" charset="0"/>
                <a:cs typeface="Times New Roman" pitchFamily="18" charset="0"/>
              </a:rPr>
              <a:t>  Automated </a:t>
            </a:r>
            <a:r>
              <a:rPr lang="en-US" sz="2800" dirty="0">
                <a:latin typeface="Times New Roman" pitchFamily="18" charset="0"/>
                <a:cs typeface="Times New Roman" pitchFamily="18" charset="0"/>
              </a:rPr>
              <a:t>Pest Detection with DNN on the Edge for Precision Agriculture</a:t>
            </a:r>
            <a:endParaRPr lang="en-IN" sz="2800" dirty="0">
              <a:latin typeface="Times New Roman" pitchFamily="18" charset="0"/>
              <a:cs typeface="Times New Roman" pitchFamily="18" charset="0"/>
            </a:endParaRPr>
          </a:p>
        </p:txBody>
      </p:sp>
      <p:sp>
        <p:nvSpPr>
          <p:cNvPr id="3" name="Rectangle 2"/>
          <p:cNvSpPr/>
          <p:nvPr/>
        </p:nvSpPr>
        <p:spPr>
          <a:xfrm>
            <a:off x="2497141" y="2311033"/>
            <a:ext cx="1903085" cy="523220"/>
          </a:xfrm>
          <a:prstGeom prst="rect">
            <a:avLst/>
          </a:prstGeom>
        </p:spPr>
        <p:txBody>
          <a:bodyPr wrap="none">
            <a:spAutoFit/>
          </a:bodyPr>
          <a:lstStyle/>
          <a:p>
            <a:pPr marL="457200" indent="-457200">
              <a:buFont typeface="Wingdings" pitchFamily="2" charset="2"/>
              <a:buChar char="Ø"/>
            </a:pPr>
            <a:r>
              <a:rPr lang="en-IN" sz="2800" dirty="0">
                <a:latin typeface="Times New Roman" pitchFamily="18" charset="0"/>
                <a:cs typeface="Times New Roman" pitchFamily="18" charset="0"/>
              </a:rPr>
              <a:t>Authors:</a:t>
            </a:r>
          </a:p>
        </p:txBody>
      </p:sp>
      <p:sp>
        <p:nvSpPr>
          <p:cNvPr id="4" name="Rectangle 3"/>
          <p:cNvSpPr/>
          <p:nvPr/>
        </p:nvSpPr>
        <p:spPr>
          <a:xfrm>
            <a:off x="2440987" y="2915960"/>
            <a:ext cx="1407052"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Year:</a:t>
            </a:r>
          </a:p>
        </p:txBody>
      </p:sp>
      <p:sp>
        <p:nvSpPr>
          <p:cNvPr id="5" name="Rectangle 4"/>
          <p:cNvSpPr/>
          <p:nvPr/>
        </p:nvSpPr>
        <p:spPr>
          <a:xfrm>
            <a:off x="2440988" y="3462317"/>
            <a:ext cx="2141933" cy="523220"/>
          </a:xfrm>
          <a:prstGeom prst="rect">
            <a:avLst/>
          </a:prstGeom>
        </p:spPr>
        <p:txBody>
          <a:bodyPr wrap="none">
            <a:spAutoFit/>
          </a:bodyPr>
          <a:lstStyle/>
          <a:p>
            <a:pPr marL="457200" lvl="0" indent="-457200">
              <a:buFont typeface="Wingdings" pitchFamily="2" charset="2"/>
              <a:buChar char="Ø"/>
            </a:pPr>
            <a:r>
              <a:rPr lang="en-IN" sz="2800" dirty="0">
                <a:solidFill>
                  <a:prstClr val="white"/>
                </a:solidFill>
                <a:latin typeface="Times New Roman" pitchFamily="18" charset="0"/>
                <a:cs typeface="Times New Roman" pitchFamily="18" charset="0"/>
              </a:rPr>
              <a:t>Summary:</a:t>
            </a:r>
          </a:p>
        </p:txBody>
      </p:sp>
      <p:sp>
        <p:nvSpPr>
          <p:cNvPr id="6" name="Rectangle 5"/>
          <p:cNvSpPr/>
          <p:nvPr/>
        </p:nvSpPr>
        <p:spPr>
          <a:xfrm>
            <a:off x="4496318" y="2372596"/>
            <a:ext cx="2294859" cy="461665"/>
          </a:xfrm>
          <a:prstGeom prst="rect">
            <a:avLst/>
          </a:prstGeom>
        </p:spPr>
        <p:txBody>
          <a:bodyPr wrap="none">
            <a:spAutoFit/>
          </a:bodyPr>
          <a:lstStyle/>
          <a:p>
            <a:r>
              <a:rPr lang="en-IN" sz="2400" dirty="0">
                <a:latin typeface="Times New Roman" pitchFamily="18" charset="0"/>
                <a:cs typeface="Times New Roman" pitchFamily="18" charset="0"/>
              </a:rPr>
              <a:t>Andrea Albanese</a:t>
            </a:r>
          </a:p>
        </p:txBody>
      </p:sp>
      <p:sp>
        <p:nvSpPr>
          <p:cNvPr id="7" name="Rectangle 6"/>
          <p:cNvSpPr/>
          <p:nvPr/>
        </p:nvSpPr>
        <p:spPr>
          <a:xfrm>
            <a:off x="3897526" y="2977523"/>
            <a:ext cx="1005403" cy="461665"/>
          </a:xfrm>
          <a:prstGeom prst="rect">
            <a:avLst/>
          </a:prstGeom>
        </p:spPr>
        <p:txBody>
          <a:bodyPr wrap="none">
            <a:spAutoFit/>
          </a:bodyPr>
          <a:lstStyle/>
          <a:p>
            <a:r>
              <a:rPr lang="en-IN" sz="2400" dirty="0">
                <a:latin typeface="Times New Roman" pitchFamily="18" charset="0"/>
                <a:cs typeface="Times New Roman" pitchFamily="18" charset="0"/>
              </a:rPr>
              <a:t>(2021)</a:t>
            </a:r>
          </a:p>
        </p:txBody>
      </p:sp>
      <p:sp>
        <p:nvSpPr>
          <p:cNvPr id="8" name="Rectangle 7"/>
          <p:cNvSpPr/>
          <p:nvPr/>
        </p:nvSpPr>
        <p:spPr>
          <a:xfrm>
            <a:off x="2967791" y="3985537"/>
            <a:ext cx="7178844" cy="2308324"/>
          </a:xfrm>
          <a:prstGeom prst="rect">
            <a:avLst/>
          </a:prstGeom>
        </p:spPr>
        <p:txBody>
          <a:bodyPr wrap="square">
            <a:spAutoFit/>
          </a:bodyPr>
          <a:lstStyle/>
          <a:p>
            <a:r>
              <a:rPr lang="en-US" sz="2400" dirty="0">
                <a:latin typeface="Times New Roman" pitchFamily="18" charset="0"/>
                <a:cs typeface="Times New Roman" pitchFamily="18" charset="0"/>
              </a:rPr>
              <a:t>This study presents an embedded system enhanced with deep neural networks (DNN) for continuous pest detection in fruit orchards. The system utilizes low-power sensing devices and energy harvesting functionalities, enabling autonomous and long-term monitoring without farmer intervention.</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157994566"/>
      </p:ext>
    </p:extLst>
  </p:cSld>
  <p:clrMapOvr>
    <a:masterClrMapping/>
  </p:clrMapOvr>
  <p:transition spd="slow">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2652" y="312821"/>
            <a:ext cx="5475602" cy="523220"/>
          </a:xfrm>
          <a:prstGeom prst="rect">
            <a:avLst/>
          </a:prstGeom>
          <a:noFill/>
        </p:spPr>
        <p:txBody>
          <a:bodyPr wrap="none" rtlCol="0">
            <a:spAutoFit/>
          </a:bodyPr>
          <a:lstStyle/>
          <a:p>
            <a:r>
              <a:rPr lang="en-IN" sz="2800" dirty="0" smtClean="0">
                <a:latin typeface="Times New Roman" pitchFamily="18" charset="0"/>
                <a:cs typeface="Times New Roman" pitchFamily="18" charset="0"/>
              </a:rPr>
              <a:t>Draw Backs  of Existing Application</a:t>
            </a:r>
            <a:endParaRPr lang="en-IN" sz="2800" dirty="0">
              <a:latin typeface="Times New Roman" pitchFamily="18" charset="0"/>
              <a:cs typeface="Times New Roman" pitchFamily="18" charset="0"/>
            </a:endParaRPr>
          </a:p>
        </p:txBody>
      </p:sp>
      <p:sp>
        <p:nvSpPr>
          <p:cNvPr id="3" name="Rectangle 2"/>
          <p:cNvSpPr/>
          <p:nvPr/>
        </p:nvSpPr>
        <p:spPr>
          <a:xfrm>
            <a:off x="1178568" y="1431576"/>
            <a:ext cx="8396081" cy="461665"/>
          </a:xfrm>
          <a:prstGeom prst="rect">
            <a:avLst/>
          </a:prstGeom>
        </p:spPr>
        <p:txBody>
          <a:bodyPr wrap="none">
            <a:spAutoFit/>
          </a:bodyPr>
          <a:lstStyle/>
          <a:p>
            <a:pPr marL="342900" indent="-342900">
              <a:buFont typeface="Wingdings" pitchFamily="2" charset="2"/>
              <a:buChar char="Ø"/>
            </a:pPr>
            <a:r>
              <a:rPr lang="en-US" sz="2400" dirty="0">
                <a:latin typeface="Times New Roman" pitchFamily="18" charset="0"/>
                <a:cs typeface="Times New Roman" pitchFamily="18" charset="0"/>
              </a:rPr>
              <a:t>Agricultural data is often fragmented across different platforms </a:t>
            </a:r>
            <a:r>
              <a:rPr lang="en-US"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sp>
        <p:nvSpPr>
          <p:cNvPr id="4" name="Rectangle 3"/>
          <p:cNvSpPr/>
          <p:nvPr/>
        </p:nvSpPr>
        <p:spPr>
          <a:xfrm>
            <a:off x="1178568" y="2005263"/>
            <a:ext cx="8069179" cy="830997"/>
          </a:xfrm>
          <a:prstGeom prst="rect">
            <a:avLst/>
          </a:prstGeom>
        </p:spPr>
        <p:txBody>
          <a:bodyPr wrap="square">
            <a:spAutoFit/>
          </a:bodyPr>
          <a:lstStyle/>
          <a:p>
            <a:pPr marL="342900" indent="-342900" algn="just">
              <a:buFont typeface="Wingdings" pitchFamily="2" charset="2"/>
              <a:buChar char="Ø"/>
            </a:pPr>
            <a:r>
              <a:rPr lang="en-US" sz="2400" dirty="0">
                <a:latin typeface="Times New Roman" pitchFamily="18" charset="0"/>
                <a:cs typeface="Times New Roman" pitchFamily="18" charset="0"/>
              </a:rPr>
              <a:t>Cannot forecast future land changes or dynamically suggest crop rotation and input changes.</a:t>
            </a:r>
            <a:endParaRPr lang="en-IN" sz="2400" dirty="0">
              <a:latin typeface="Times New Roman" pitchFamily="18" charset="0"/>
              <a:cs typeface="Times New Roman" pitchFamily="18" charset="0"/>
            </a:endParaRPr>
          </a:p>
        </p:txBody>
      </p:sp>
      <p:sp>
        <p:nvSpPr>
          <p:cNvPr id="5" name="Rectangle 4"/>
          <p:cNvSpPr/>
          <p:nvPr/>
        </p:nvSpPr>
        <p:spPr>
          <a:xfrm>
            <a:off x="1178568" y="2969477"/>
            <a:ext cx="8422395" cy="830997"/>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Systems are not equipped to model long-term scenarios like temperature rise, rainfall shifts, or extreme weather events.</a:t>
            </a:r>
            <a:endParaRPr lang="en-IN" sz="2400" dirty="0">
              <a:latin typeface="Times New Roman" pitchFamily="18" charset="0"/>
              <a:cs typeface="Times New Roman" pitchFamily="18" charset="0"/>
            </a:endParaRPr>
          </a:p>
        </p:txBody>
      </p:sp>
      <p:sp>
        <p:nvSpPr>
          <p:cNvPr id="6" name="Rectangle 5"/>
          <p:cNvSpPr/>
          <p:nvPr/>
        </p:nvSpPr>
        <p:spPr>
          <a:xfrm>
            <a:off x="1282842" y="4012214"/>
            <a:ext cx="8061684" cy="830997"/>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Weather or climate changes are often recognized too late to mitigate damage. </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7093850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96715" y="641684"/>
            <a:ext cx="5354351" cy="523220"/>
          </a:xfrm>
          <a:prstGeom prst="rect">
            <a:avLst/>
          </a:prstGeom>
          <a:noFill/>
        </p:spPr>
        <p:txBody>
          <a:bodyPr wrap="none" rtlCol="0">
            <a:spAutoFit/>
          </a:bodyPr>
          <a:lstStyle/>
          <a:p>
            <a:r>
              <a:rPr lang="en-IN" sz="2800" dirty="0" smtClean="0">
                <a:latin typeface="Times New Roman" pitchFamily="18" charset="0"/>
                <a:cs typeface="Times New Roman" pitchFamily="18" charset="0"/>
              </a:rPr>
              <a:t>Advantages of proposed application</a:t>
            </a:r>
            <a:endParaRPr lang="en-IN" sz="2800" dirty="0">
              <a:latin typeface="Times New Roman" pitchFamily="18" charset="0"/>
              <a:cs typeface="Times New Roman" pitchFamily="18" charset="0"/>
            </a:endParaRPr>
          </a:p>
        </p:txBody>
      </p:sp>
      <p:sp>
        <p:nvSpPr>
          <p:cNvPr id="4" name="Rectangle 3"/>
          <p:cNvSpPr/>
          <p:nvPr/>
        </p:nvSpPr>
        <p:spPr>
          <a:xfrm>
            <a:off x="1644814" y="1690027"/>
            <a:ext cx="3066865" cy="461665"/>
          </a:xfrm>
          <a:prstGeom prst="rect">
            <a:avLst/>
          </a:prstGeom>
        </p:spPr>
        <p:txBody>
          <a:bodyPr wrap="none">
            <a:spAutoFit/>
          </a:bodyPr>
          <a:lstStyle/>
          <a:p>
            <a:pPr marL="342900" indent="-342900">
              <a:buFont typeface="Wingdings" pitchFamily="2" charset="2"/>
              <a:buChar char="Ø"/>
            </a:pPr>
            <a:r>
              <a:rPr lang="en-IN" sz="2400" dirty="0">
                <a:latin typeface="Times New Roman" pitchFamily="18" charset="0"/>
                <a:cs typeface="Times New Roman" pitchFamily="18" charset="0"/>
              </a:rPr>
              <a:t>Increases crop </a:t>
            </a:r>
            <a:r>
              <a:rPr lang="en-IN" sz="2400" dirty="0" smtClean="0">
                <a:latin typeface="Times New Roman" pitchFamily="18" charset="0"/>
                <a:cs typeface="Times New Roman" pitchFamily="18" charset="0"/>
              </a:rPr>
              <a:t>yield.</a:t>
            </a:r>
            <a:endParaRPr lang="en-IN" sz="2400" dirty="0">
              <a:latin typeface="Times New Roman" pitchFamily="18" charset="0"/>
              <a:cs typeface="Times New Roman" pitchFamily="18" charset="0"/>
            </a:endParaRPr>
          </a:p>
        </p:txBody>
      </p:sp>
      <p:sp>
        <p:nvSpPr>
          <p:cNvPr id="5" name="Rectangle 4"/>
          <p:cNvSpPr/>
          <p:nvPr/>
        </p:nvSpPr>
        <p:spPr>
          <a:xfrm>
            <a:off x="1722719" y="4246966"/>
            <a:ext cx="5977919" cy="523220"/>
          </a:xfrm>
          <a:prstGeom prst="rect">
            <a:avLst/>
          </a:prstGeom>
        </p:spPr>
        <p:txBody>
          <a:bodyPr wrap="none">
            <a:spAutoFit/>
          </a:bodyPr>
          <a:lstStyle/>
          <a:p>
            <a:pPr marL="457200" indent="-457200">
              <a:buFont typeface="Wingdings" pitchFamily="2" charset="2"/>
              <a:buChar char="Ø"/>
            </a:pPr>
            <a:r>
              <a:rPr lang="en-US" sz="2800" dirty="0">
                <a:latin typeface="Times New Roman" pitchFamily="18" charset="0"/>
                <a:cs typeface="Times New Roman" pitchFamily="18" charset="0"/>
              </a:rPr>
              <a:t>Saves water through smart </a:t>
            </a:r>
            <a:r>
              <a:rPr lang="en-US" sz="2800" dirty="0" smtClean="0">
                <a:latin typeface="Times New Roman" pitchFamily="18" charset="0"/>
                <a:cs typeface="Times New Roman" pitchFamily="18" charset="0"/>
              </a:rPr>
              <a:t>irrigation.</a:t>
            </a:r>
            <a:endParaRPr lang="en-IN" sz="2800" dirty="0">
              <a:latin typeface="Times New Roman" pitchFamily="18" charset="0"/>
              <a:cs typeface="Times New Roman" pitchFamily="18" charset="0"/>
            </a:endParaRPr>
          </a:p>
        </p:txBody>
      </p:sp>
      <p:sp>
        <p:nvSpPr>
          <p:cNvPr id="6" name="Rectangle 1"/>
          <p:cNvSpPr>
            <a:spLocks noChangeArrowheads="1"/>
          </p:cNvSpPr>
          <p:nvPr/>
        </p:nvSpPr>
        <p:spPr bwMode="auto">
          <a:xfrm>
            <a:off x="1301772" y="1936498"/>
            <a:ext cx="110799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2" defTabSz="914400" fontAlgn="base">
              <a:spcBef>
                <a:spcPct val="0"/>
              </a:spcBef>
              <a:spcAft>
                <a:spcPct val="0"/>
              </a:spcAf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
        <p:nvSpPr>
          <p:cNvPr id="7" name="Rectangle 6"/>
          <p:cNvSpPr/>
          <p:nvPr/>
        </p:nvSpPr>
        <p:spPr>
          <a:xfrm>
            <a:off x="1644814" y="3691098"/>
            <a:ext cx="5540299" cy="461665"/>
          </a:xfrm>
          <a:prstGeom prst="rect">
            <a:avLst/>
          </a:prstGeom>
        </p:spPr>
        <p:txBody>
          <a:bodyPr wrap="none">
            <a:spAutoFit/>
          </a:bodyPr>
          <a:lstStyle/>
          <a:p>
            <a:pPr marL="342900" indent="-342900">
              <a:buFont typeface="Wingdings" pitchFamily="2" charset="2"/>
              <a:buChar char="Ø"/>
            </a:pPr>
            <a:r>
              <a:rPr lang="en-US" sz="2400" dirty="0">
                <a:latin typeface="Times New Roman" pitchFamily="18" charset="0"/>
                <a:cs typeface="Times New Roman" pitchFamily="18" charset="0"/>
              </a:rPr>
              <a:t>Reduces fertilizer and pesticide </a:t>
            </a:r>
            <a:r>
              <a:rPr lang="en-US" sz="2400" dirty="0" smtClean="0">
                <a:latin typeface="Times New Roman" pitchFamily="18" charset="0"/>
                <a:cs typeface="Times New Roman" pitchFamily="18" charset="0"/>
              </a:rPr>
              <a:t>wastage.</a:t>
            </a:r>
            <a:endParaRPr lang="en-IN" sz="2400" dirty="0">
              <a:latin typeface="Times New Roman" pitchFamily="18" charset="0"/>
              <a:cs typeface="Times New Roman" pitchFamily="18" charset="0"/>
            </a:endParaRPr>
          </a:p>
        </p:txBody>
      </p:sp>
      <p:sp>
        <p:nvSpPr>
          <p:cNvPr id="8" name="Rectangle 7"/>
          <p:cNvSpPr/>
          <p:nvPr/>
        </p:nvSpPr>
        <p:spPr>
          <a:xfrm>
            <a:off x="1644814" y="2999511"/>
            <a:ext cx="4892686" cy="461665"/>
          </a:xfrm>
          <a:prstGeom prst="rect">
            <a:avLst/>
          </a:prstGeom>
        </p:spPr>
        <p:txBody>
          <a:bodyPr wrap="none">
            <a:spAutoFit/>
          </a:bodyPr>
          <a:lstStyle/>
          <a:p>
            <a:pPr marL="342900" indent="-342900">
              <a:buFont typeface="Wingdings" pitchFamily="2" charset="2"/>
              <a:buChar char="Ø"/>
            </a:pPr>
            <a:r>
              <a:rPr lang="en-US" sz="2400" dirty="0">
                <a:latin typeface="Times New Roman" pitchFamily="18" charset="0"/>
                <a:cs typeface="Times New Roman" pitchFamily="18" charset="0"/>
              </a:rPr>
              <a:t>Adapts farming to climate </a:t>
            </a:r>
            <a:r>
              <a:rPr lang="en-US" sz="2400" dirty="0" smtClean="0">
                <a:latin typeface="Times New Roman" pitchFamily="18" charset="0"/>
                <a:cs typeface="Times New Roman" pitchFamily="18" charset="0"/>
              </a:rPr>
              <a:t>changes.</a:t>
            </a:r>
            <a:endParaRPr lang="en-IN" sz="2400" dirty="0">
              <a:latin typeface="Times New Roman" pitchFamily="18" charset="0"/>
              <a:cs typeface="Times New Roman" pitchFamily="18" charset="0"/>
            </a:endParaRPr>
          </a:p>
        </p:txBody>
      </p:sp>
      <p:sp>
        <p:nvSpPr>
          <p:cNvPr id="9" name="Rectangle 8"/>
          <p:cNvSpPr/>
          <p:nvPr/>
        </p:nvSpPr>
        <p:spPr>
          <a:xfrm>
            <a:off x="1796715" y="4912988"/>
            <a:ext cx="6372257" cy="461665"/>
          </a:xfrm>
          <a:prstGeom prst="rect">
            <a:avLst/>
          </a:prstGeom>
        </p:spPr>
        <p:txBody>
          <a:bodyPr wrap="none">
            <a:spAutoFit/>
          </a:bodyPr>
          <a:lstStyle/>
          <a:p>
            <a:pPr marL="342900" indent="-342900">
              <a:buFont typeface="Wingdings" pitchFamily="2" charset="2"/>
              <a:buChar char="Ø"/>
            </a:pPr>
            <a:r>
              <a:rPr lang="en-US" sz="2400" dirty="0">
                <a:latin typeface="Times New Roman" pitchFamily="18" charset="0"/>
                <a:cs typeface="Times New Roman" pitchFamily="18" charset="0"/>
              </a:rPr>
              <a:t>Predicts risks like drought and soil </a:t>
            </a:r>
            <a:r>
              <a:rPr lang="en-US" sz="2400" dirty="0" smtClean="0">
                <a:latin typeface="Times New Roman" pitchFamily="18" charset="0"/>
                <a:cs typeface="Times New Roman" pitchFamily="18" charset="0"/>
              </a:rPr>
              <a:t>degradation</a:t>
            </a:r>
            <a:r>
              <a:rPr lang="en-US" dirty="0" smtClean="0"/>
              <a:t>.</a:t>
            </a:r>
            <a:endParaRPr lang="en-IN" dirty="0"/>
          </a:p>
        </p:txBody>
      </p:sp>
      <p:sp>
        <p:nvSpPr>
          <p:cNvPr id="10" name="Rectangle 9"/>
          <p:cNvSpPr/>
          <p:nvPr/>
        </p:nvSpPr>
        <p:spPr>
          <a:xfrm>
            <a:off x="1644814" y="2442097"/>
            <a:ext cx="4552849" cy="461665"/>
          </a:xfrm>
          <a:prstGeom prst="rect">
            <a:avLst/>
          </a:prstGeom>
        </p:spPr>
        <p:txBody>
          <a:bodyPr wrap="none">
            <a:spAutoFit/>
          </a:bodyPr>
          <a:lstStyle/>
          <a:p>
            <a:pPr marL="342900" indent="-342900">
              <a:buFont typeface="Wingdings" pitchFamily="2" charset="2"/>
              <a:buChar char="Ø"/>
            </a:pPr>
            <a:r>
              <a:rPr lang="en-IN" sz="2400" dirty="0">
                <a:latin typeface="Times New Roman" pitchFamily="18" charset="0"/>
                <a:cs typeface="Times New Roman" pitchFamily="18" charset="0"/>
              </a:rPr>
              <a:t>Supports sustainable </a:t>
            </a:r>
            <a:r>
              <a:rPr lang="en-IN" sz="2400" dirty="0" smtClean="0">
                <a:latin typeface="Times New Roman" pitchFamily="18" charset="0"/>
                <a:cs typeface="Times New Roman" pitchFamily="18" charset="0"/>
              </a:rPr>
              <a:t>agriculture.</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348776592"/>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2037" y="32092"/>
            <a:ext cx="3108543" cy="646331"/>
          </a:xfrm>
          <a:prstGeom prst="rect">
            <a:avLst/>
          </a:prstGeom>
          <a:noFill/>
        </p:spPr>
        <p:txBody>
          <a:bodyPr wrap="none" rtlCol="0">
            <a:spAutoFit/>
          </a:bodyPr>
          <a:lstStyle/>
          <a:p>
            <a:pPr algn="ctr"/>
            <a:r>
              <a:rPr lang="en-IN" sz="3600" i="1" dirty="0" smtClean="0">
                <a:latin typeface="Times New Roman" pitchFamily="18" charset="0"/>
                <a:cs typeface="Times New Roman" pitchFamily="18" charset="0"/>
              </a:rPr>
              <a:t>Functionalities</a:t>
            </a:r>
            <a:r>
              <a:rPr lang="en-IN" sz="3600" dirty="0" smtClean="0">
                <a:latin typeface="Times New Roman" pitchFamily="18" charset="0"/>
                <a:cs typeface="Times New Roman" pitchFamily="18" charset="0"/>
              </a:rPr>
              <a:t>:</a:t>
            </a:r>
            <a:endParaRPr lang="en-IN" sz="3600" dirty="0">
              <a:latin typeface="Times New Roman" pitchFamily="18" charset="0"/>
              <a:cs typeface="Times New Roman" pitchFamily="18" charset="0"/>
            </a:endParaRPr>
          </a:p>
        </p:txBody>
      </p:sp>
      <p:sp>
        <p:nvSpPr>
          <p:cNvPr id="3" name="Rectangle 2"/>
          <p:cNvSpPr/>
          <p:nvPr/>
        </p:nvSpPr>
        <p:spPr>
          <a:xfrm>
            <a:off x="938774" y="732059"/>
            <a:ext cx="3740768" cy="461665"/>
          </a:xfrm>
          <a:prstGeom prst="rect">
            <a:avLst/>
          </a:prstGeom>
        </p:spPr>
        <p:txBody>
          <a:bodyPr wrap="none">
            <a:spAutoFit/>
          </a:bodyPr>
          <a:lstStyle/>
          <a:p>
            <a:pPr marL="342900" indent="-342900" algn="ctr">
              <a:buFont typeface="Wingdings" pitchFamily="2" charset="2"/>
              <a:buChar char="Ø"/>
            </a:pPr>
            <a:r>
              <a:rPr lang="en-IN" sz="2400" dirty="0">
                <a:latin typeface="Times New Roman" pitchFamily="18" charset="0"/>
                <a:cs typeface="Times New Roman" pitchFamily="18" charset="0"/>
              </a:rPr>
              <a:t>Land Suitability </a:t>
            </a:r>
            <a:r>
              <a:rPr lang="en-IN" sz="2400" dirty="0" smtClean="0">
                <a:latin typeface="Times New Roman" pitchFamily="18" charset="0"/>
                <a:cs typeface="Times New Roman" pitchFamily="18" charset="0"/>
              </a:rPr>
              <a:t>Analysis:</a:t>
            </a:r>
            <a:endParaRPr lang="en-IN" sz="2400" dirty="0">
              <a:latin typeface="Times New Roman" pitchFamily="18" charset="0"/>
              <a:cs typeface="Times New Roman" pitchFamily="18" charset="0"/>
            </a:endParaRPr>
          </a:p>
        </p:txBody>
      </p:sp>
      <p:sp>
        <p:nvSpPr>
          <p:cNvPr id="5" name="Rectangle 4"/>
          <p:cNvSpPr/>
          <p:nvPr/>
        </p:nvSpPr>
        <p:spPr>
          <a:xfrm>
            <a:off x="938776" y="1511790"/>
            <a:ext cx="4621073" cy="461665"/>
          </a:xfrm>
          <a:prstGeom prst="rect">
            <a:avLst/>
          </a:prstGeom>
        </p:spPr>
        <p:txBody>
          <a:bodyPr wrap="none">
            <a:spAutoFit/>
          </a:bodyPr>
          <a:lstStyle/>
          <a:p>
            <a:pPr marL="342900" indent="-342900">
              <a:buFont typeface="Wingdings" pitchFamily="2" charset="2"/>
              <a:buChar char="Ø"/>
            </a:pPr>
            <a:r>
              <a:rPr lang="en-IN" sz="2400" dirty="0">
                <a:latin typeface="Times New Roman" pitchFamily="18" charset="0"/>
                <a:cs typeface="Times New Roman" pitchFamily="18" charset="0"/>
              </a:rPr>
              <a:t>Climate and Weather </a:t>
            </a:r>
            <a:r>
              <a:rPr lang="en-IN" sz="2400" dirty="0" smtClean="0">
                <a:latin typeface="Times New Roman" pitchFamily="18" charset="0"/>
                <a:cs typeface="Times New Roman" pitchFamily="18" charset="0"/>
              </a:rPr>
              <a:t>Adaptation:</a:t>
            </a:r>
            <a:endParaRPr lang="en-IN" sz="2400" dirty="0">
              <a:latin typeface="Times New Roman" pitchFamily="18" charset="0"/>
              <a:cs typeface="Times New Roman" pitchFamily="18" charset="0"/>
            </a:endParaRPr>
          </a:p>
        </p:txBody>
      </p:sp>
      <p:sp>
        <p:nvSpPr>
          <p:cNvPr id="6" name="Rectangle 5"/>
          <p:cNvSpPr/>
          <p:nvPr/>
        </p:nvSpPr>
        <p:spPr>
          <a:xfrm>
            <a:off x="5422231" y="1563743"/>
            <a:ext cx="6096000" cy="1015663"/>
          </a:xfrm>
          <a:prstGeom prst="rect">
            <a:avLst/>
          </a:prstGeom>
        </p:spPr>
        <p:txBody>
          <a:bodyPr>
            <a:spAutoFit/>
          </a:bodyPr>
          <a:lstStyle/>
          <a:p>
            <a:r>
              <a:rPr lang="en-US" sz="2000" dirty="0">
                <a:latin typeface="Times New Roman" pitchFamily="18" charset="0"/>
                <a:cs typeface="Times New Roman" pitchFamily="18" charset="0"/>
              </a:rPr>
              <a:t>Integrates </a:t>
            </a:r>
            <a:r>
              <a:rPr lang="en-US" sz="2000" b="1" dirty="0">
                <a:latin typeface="Times New Roman" pitchFamily="18" charset="0"/>
                <a:cs typeface="Times New Roman" pitchFamily="18" charset="0"/>
              </a:rPr>
              <a:t>real-time weather forecasts</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climate models</a:t>
            </a:r>
            <a:r>
              <a:rPr lang="en-US" sz="2000" dirty="0">
                <a:latin typeface="Times New Roman" pitchFamily="18" charset="0"/>
                <a:cs typeface="Times New Roman" pitchFamily="18" charset="0"/>
              </a:rPr>
              <a:t> to predict changes in rainfall, temperature, and humidity.</a:t>
            </a:r>
            <a:endParaRPr lang="en-IN" sz="2000" dirty="0">
              <a:latin typeface="Times New Roman" pitchFamily="18" charset="0"/>
              <a:cs typeface="Times New Roman" pitchFamily="18" charset="0"/>
            </a:endParaRPr>
          </a:p>
        </p:txBody>
      </p:sp>
      <p:sp>
        <p:nvSpPr>
          <p:cNvPr id="7" name="Rectangle 6"/>
          <p:cNvSpPr/>
          <p:nvPr/>
        </p:nvSpPr>
        <p:spPr>
          <a:xfrm>
            <a:off x="854519" y="2615327"/>
            <a:ext cx="6068136" cy="461665"/>
          </a:xfrm>
          <a:prstGeom prst="rect">
            <a:avLst/>
          </a:prstGeom>
        </p:spPr>
        <p:txBody>
          <a:bodyPr wrap="none">
            <a:spAutoFit/>
          </a:bodyPr>
          <a:lstStyle/>
          <a:p>
            <a:pPr marL="342900" indent="-342900" algn="ctr">
              <a:buFont typeface="Wingdings" pitchFamily="2" charset="2"/>
              <a:buChar char="Ø"/>
            </a:pPr>
            <a:r>
              <a:rPr lang="en-US" sz="2400" dirty="0">
                <a:latin typeface="Times New Roman" pitchFamily="18" charset="0"/>
                <a:cs typeface="Times New Roman" pitchFamily="18" charset="0"/>
              </a:rPr>
              <a:t>Crop Recommendation and Yield </a:t>
            </a:r>
            <a:r>
              <a:rPr lang="en-US" sz="2400" dirty="0" smtClean="0">
                <a:latin typeface="Times New Roman" pitchFamily="18" charset="0"/>
                <a:cs typeface="Times New Roman" pitchFamily="18" charset="0"/>
              </a:rPr>
              <a:t>Prediction:</a:t>
            </a:r>
            <a:endParaRPr lang="en-IN" sz="2400" dirty="0">
              <a:latin typeface="Times New Roman" pitchFamily="18" charset="0"/>
              <a:cs typeface="Times New Roman" pitchFamily="18" charset="0"/>
            </a:endParaRPr>
          </a:p>
        </p:txBody>
      </p:sp>
      <p:sp>
        <p:nvSpPr>
          <p:cNvPr id="8" name="Rectangle 7"/>
          <p:cNvSpPr/>
          <p:nvPr/>
        </p:nvSpPr>
        <p:spPr>
          <a:xfrm>
            <a:off x="6833941" y="2647403"/>
            <a:ext cx="5574631" cy="707886"/>
          </a:xfrm>
          <a:prstGeom prst="rect">
            <a:avLst/>
          </a:prstGeom>
        </p:spPr>
        <p:txBody>
          <a:bodyPr wrap="square">
            <a:spAutoFit/>
          </a:bodyPr>
          <a:lstStyle/>
          <a:p>
            <a:r>
              <a:rPr lang="en-US" sz="2000" dirty="0">
                <a:latin typeface="Times New Roman" pitchFamily="18" charset="0"/>
                <a:cs typeface="Times New Roman" pitchFamily="18" charset="0"/>
              </a:rPr>
              <a:t>Recommends crops best suited for </a:t>
            </a:r>
            <a:r>
              <a:rPr lang="en-US" sz="2000" b="1" dirty="0">
                <a:latin typeface="Times New Roman" pitchFamily="18" charset="0"/>
                <a:cs typeface="Times New Roman" pitchFamily="18" charset="0"/>
              </a:rPr>
              <a:t>current and future land conditions</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
        <p:nvSpPr>
          <p:cNvPr id="9" name="Rectangle 8"/>
          <p:cNvSpPr/>
          <p:nvPr/>
        </p:nvSpPr>
        <p:spPr>
          <a:xfrm>
            <a:off x="854522" y="3487017"/>
            <a:ext cx="5490606" cy="461665"/>
          </a:xfrm>
          <a:prstGeom prst="rect">
            <a:avLst/>
          </a:prstGeom>
        </p:spPr>
        <p:txBody>
          <a:bodyPr wrap="none">
            <a:spAutoFit/>
          </a:bodyPr>
          <a:lstStyle/>
          <a:p>
            <a:pPr marL="342900" indent="-342900" algn="ctr">
              <a:buFont typeface="Wingdings" pitchFamily="2" charset="2"/>
              <a:buChar char="Ø"/>
            </a:pPr>
            <a:r>
              <a:rPr lang="en-IN" sz="2400" dirty="0">
                <a:latin typeface="Times New Roman" pitchFamily="18" charset="0"/>
                <a:cs typeface="Times New Roman" pitchFamily="18" charset="0"/>
              </a:rPr>
              <a:t>Sustainability and Carbon </a:t>
            </a:r>
            <a:r>
              <a:rPr lang="en-IN" sz="2400" dirty="0" smtClean="0">
                <a:latin typeface="Times New Roman" pitchFamily="18" charset="0"/>
                <a:cs typeface="Times New Roman" pitchFamily="18" charset="0"/>
              </a:rPr>
              <a:t>Management:</a:t>
            </a:r>
            <a:endParaRPr lang="en-IN" sz="2400" dirty="0">
              <a:latin typeface="Times New Roman" pitchFamily="18" charset="0"/>
              <a:cs typeface="Times New Roman" pitchFamily="18" charset="0"/>
            </a:endParaRPr>
          </a:p>
        </p:txBody>
      </p:sp>
      <p:sp>
        <p:nvSpPr>
          <p:cNvPr id="10" name="Rectangle 9"/>
          <p:cNvSpPr/>
          <p:nvPr/>
        </p:nvSpPr>
        <p:spPr>
          <a:xfrm>
            <a:off x="6216316" y="3518267"/>
            <a:ext cx="6096000" cy="707886"/>
          </a:xfrm>
          <a:prstGeom prst="rect">
            <a:avLst/>
          </a:prstGeom>
        </p:spPr>
        <p:txBody>
          <a:bodyPr>
            <a:spAutoFit/>
          </a:bodyPr>
          <a:lstStyle/>
          <a:p>
            <a:r>
              <a:rPr lang="en-US" sz="2000" dirty="0">
                <a:latin typeface="Times New Roman" pitchFamily="18" charset="0"/>
                <a:cs typeface="Times New Roman" pitchFamily="18" charset="0"/>
              </a:rPr>
              <a:t>Suggests eco-friendly practices like </a:t>
            </a:r>
            <a:r>
              <a:rPr lang="en-US" sz="2000" b="1" dirty="0">
                <a:latin typeface="Times New Roman" pitchFamily="18" charset="0"/>
                <a:cs typeface="Times New Roman" pitchFamily="18" charset="0"/>
              </a:rPr>
              <a:t>reduced </a:t>
            </a:r>
            <a:r>
              <a:rPr lang="en-US" sz="2000" b="1" dirty="0" smtClean="0">
                <a:latin typeface="Times New Roman" pitchFamily="18" charset="0"/>
                <a:cs typeface="Times New Roman" pitchFamily="18" charset="0"/>
              </a:rPr>
              <a:t>village</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organic inputs</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precision farming</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
        <p:nvSpPr>
          <p:cNvPr id="11" name="Rectangle 10"/>
          <p:cNvSpPr/>
          <p:nvPr/>
        </p:nvSpPr>
        <p:spPr>
          <a:xfrm>
            <a:off x="938780" y="4563351"/>
            <a:ext cx="3485249" cy="461665"/>
          </a:xfrm>
          <a:prstGeom prst="rect">
            <a:avLst/>
          </a:prstGeom>
        </p:spPr>
        <p:txBody>
          <a:bodyPr wrap="none">
            <a:spAutoFit/>
          </a:bodyPr>
          <a:lstStyle/>
          <a:p>
            <a:pPr marL="342900" indent="-342900" algn="ctr">
              <a:buFont typeface="Wingdings" pitchFamily="2" charset="2"/>
              <a:buChar char="Ø"/>
            </a:pPr>
            <a:r>
              <a:rPr lang="en-IN" sz="2400" dirty="0">
                <a:latin typeface="Times New Roman" pitchFamily="18" charset="0"/>
                <a:cs typeface="Times New Roman" pitchFamily="18" charset="0"/>
              </a:rPr>
              <a:t>Soil Health </a:t>
            </a:r>
            <a:r>
              <a:rPr lang="en-IN" sz="2400" dirty="0" smtClean="0">
                <a:latin typeface="Times New Roman" pitchFamily="18" charset="0"/>
                <a:cs typeface="Times New Roman" pitchFamily="18" charset="0"/>
              </a:rPr>
              <a:t>Monitoring:</a:t>
            </a:r>
            <a:endParaRPr lang="en-IN" sz="2400" dirty="0">
              <a:latin typeface="Times New Roman" pitchFamily="18" charset="0"/>
              <a:cs typeface="Times New Roman" pitchFamily="18" charset="0"/>
            </a:endParaRPr>
          </a:p>
        </p:txBody>
      </p:sp>
      <p:sp>
        <p:nvSpPr>
          <p:cNvPr id="12" name="Rectangle 11"/>
          <p:cNvSpPr/>
          <p:nvPr/>
        </p:nvSpPr>
        <p:spPr>
          <a:xfrm>
            <a:off x="4424023" y="4604646"/>
            <a:ext cx="6096000" cy="1015663"/>
          </a:xfrm>
          <a:prstGeom prst="rect">
            <a:avLst/>
          </a:prstGeom>
        </p:spPr>
        <p:txBody>
          <a:bodyPr>
            <a:spAutoFit/>
          </a:bodyPr>
          <a:lstStyle/>
          <a:p>
            <a:r>
              <a:rPr lang="en-US" sz="2000" dirty="0">
                <a:latin typeface="Times New Roman" pitchFamily="18" charset="0"/>
                <a:cs typeface="Times New Roman" pitchFamily="18" charset="0"/>
              </a:rPr>
              <a:t>Detects degradation patterns and provides </a:t>
            </a:r>
            <a:r>
              <a:rPr lang="en-US" sz="2000" b="1" dirty="0">
                <a:latin typeface="Times New Roman" pitchFamily="18" charset="0"/>
                <a:cs typeface="Times New Roman" pitchFamily="18" charset="0"/>
              </a:rPr>
              <a:t>remediation recommendations</a:t>
            </a:r>
            <a:r>
              <a:rPr lang="en-US" sz="2000" dirty="0">
                <a:latin typeface="Times New Roman" pitchFamily="18" charset="0"/>
                <a:cs typeface="Times New Roman" pitchFamily="18" charset="0"/>
              </a:rPr>
              <a:t> such as fertilizer application or cover cropping.</a:t>
            </a:r>
            <a:endParaRPr lang="en-IN" sz="2000" dirty="0">
              <a:latin typeface="Times New Roman" pitchFamily="18" charset="0"/>
              <a:cs typeface="Times New Roman" pitchFamily="18" charset="0"/>
            </a:endParaRPr>
          </a:p>
        </p:txBody>
      </p:sp>
      <p:sp>
        <p:nvSpPr>
          <p:cNvPr id="13" name="TextBox 12"/>
          <p:cNvSpPr txBox="1"/>
          <p:nvPr/>
        </p:nvSpPr>
        <p:spPr>
          <a:xfrm>
            <a:off x="4679542" y="732059"/>
            <a:ext cx="6087979" cy="707886"/>
          </a:xfrm>
          <a:prstGeom prst="rect">
            <a:avLst/>
          </a:prstGeom>
          <a:noFill/>
        </p:spPr>
        <p:txBody>
          <a:bodyPr wrap="square" rtlCol="0">
            <a:spAutoFit/>
          </a:bodyPr>
          <a:lstStyle/>
          <a:p>
            <a:r>
              <a:rPr lang="en-US" sz="2000" dirty="0">
                <a:latin typeface="Times New Roman" pitchFamily="18" charset="0"/>
                <a:cs typeface="Times New Roman" pitchFamily="18" charset="0"/>
              </a:rPr>
              <a:t>It should collect and analyze data, provide clear recommendations, and alert users about risks.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881066129"/>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9116" y="8028"/>
            <a:ext cx="3903633" cy="646331"/>
          </a:xfrm>
          <a:prstGeom prst="rect">
            <a:avLst/>
          </a:prstGeom>
          <a:noFill/>
        </p:spPr>
        <p:txBody>
          <a:bodyPr wrap="none" rtlCol="0">
            <a:spAutoFit/>
          </a:bodyPr>
          <a:lstStyle/>
          <a:p>
            <a:pPr algn="ctr"/>
            <a:r>
              <a:rPr lang="en-IN" sz="3600" i="1" dirty="0" smtClean="0">
                <a:latin typeface="Times New Roman" pitchFamily="18" charset="0"/>
                <a:cs typeface="Times New Roman" pitchFamily="18" charset="0"/>
              </a:rPr>
              <a:t>Non-Functionalities</a:t>
            </a:r>
            <a:endParaRPr lang="en-IN" sz="3600" i="1" dirty="0">
              <a:latin typeface="Times New Roman" pitchFamily="18" charset="0"/>
              <a:cs typeface="Times New Roman" pitchFamily="18" charset="0"/>
            </a:endParaRPr>
          </a:p>
        </p:txBody>
      </p:sp>
      <p:sp>
        <p:nvSpPr>
          <p:cNvPr id="4" name="Rectangle 2"/>
          <p:cNvSpPr>
            <a:spLocks noChangeArrowheads="1"/>
          </p:cNvSpPr>
          <p:nvPr/>
        </p:nvSpPr>
        <p:spPr bwMode="auto">
          <a:xfrm>
            <a:off x="918217" y="550448"/>
            <a:ext cx="10443411"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Ø"/>
              <a:tabLst/>
            </a:pPr>
            <a:r>
              <a:rPr kumimoji="0" lang="en-US" sz="2400" b="1" i="0" u="none" strike="noStrike" cap="none" normalizeH="0" baseline="0" dirty="0" smtClean="0">
                <a:ln>
                  <a:noFill/>
                </a:ln>
                <a:solidFill>
                  <a:schemeClr val="tx1"/>
                </a:solidFill>
                <a:effectLst/>
                <a:latin typeface="Arial" charset="0"/>
                <a:cs typeface="Arial" charset="0"/>
              </a:rPr>
              <a:t>Performance</a:t>
            </a:r>
            <a:r>
              <a:rPr kumimoji="0" lang="en-US" sz="1800" b="0" i="0" u="none" strike="noStrike" cap="none" normalizeH="0" baseline="0" dirty="0" smtClean="0">
                <a:ln>
                  <a:noFill/>
                </a:ln>
                <a:solidFill>
                  <a:schemeClr val="tx1"/>
                </a:solidFill>
                <a:effectLst/>
                <a:latin typeface="Arial" charset="0"/>
                <a:cs typeface="Arial" charset="0"/>
              </a:rPr>
              <a:t> – </a:t>
            </a:r>
            <a:r>
              <a:rPr kumimoji="0" lang="en-US" sz="2000" b="0" i="0" u="none" strike="noStrike" cap="none" normalizeH="0" baseline="0" dirty="0" smtClean="0">
                <a:ln>
                  <a:noFill/>
                </a:ln>
                <a:solidFill>
                  <a:schemeClr val="tx1"/>
                </a:solidFill>
                <a:effectLst/>
                <a:latin typeface="Arial" charset="0"/>
                <a:cs typeface="Arial" charset="0"/>
              </a:rPr>
              <a:t>The system should process data quickly and give results in real time</a:t>
            </a:r>
            <a:r>
              <a:rPr kumimoji="0" lang="en-US" sz="2000" b="0" i="0" u="none" strike="noStrike" cap="none" normalizeH="0" baseline="0" dirty="0" smtClean="0">
                <a:ln>
                  <a:noFill/>
                </a:ln>
                <a:solidFill>
                  <a:schemeClr val="tx1"/>
                </a:solidFill>
                <a:effectLst/>
                <a:latin typeface="Arial" charset="0"/>
                <a:cs typeface="Arial" charset="0"/>
              </a:rPr>
              <a:t>.</a:t>
            </a: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Arial" charset="0"/>
              <a:cs typeface="Arial" charset="0"/>
            </a:endParaRP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Scalability</a:t>
            </a:r>
            <a:r>
              <a:rPr kumimoji="0" lang="en-US" sz="1800" b="0" i="0" u="none" strike="noStrike" cap="none" normalizeH="0" baseline="0" dirty="0" smtClean="0">
                <a:ln>
                  <a:noFill/>
                </a:ln>
                <a:solidFill>
                  <a:schemeClr val="tx1"/>
                </a:solidFill>
                <a:effectLst/>
                <a:latin typeface="Arial" charset="0"/>
                <a:cs typeface="Arial" charset="0"/>
              </a:rPr>
              <a:t> –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It should work for both small farms and large agricultural areas</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Accuracy</a:t>
            </a:r>
            <a:r>
              <a:rPr kumimoji="0" lang="en-US" sz="1800" b="0" i="0" u="none" strike="noStrike" cap="none" normalizeH="0" baseline="0" dirty="0" smtClean="0">
                <a:ln>
                  <a:noFill/>
                </a:ln>
                <a:solidFill>
                  <a:schemeClr val="tx1"/>
                </a:solidFill>
                <a:effectLst/>
                <a:latin typeface="Arial" charset="0"/>
                <a:cs typeface="Arial" charset="0"/>
              </a:rPr>
              <a:t> –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AI predictions and recommendations should be highly reliable</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Usability</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The interface should be simple and easy for farmers to use</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Security</a:t>
            </a:r>
            <a:r>
              <a:rPr kumimoji="0" lang="en-US" sz="1800" b="0" i="0" u="none" strike="noStrike" cap="none" normalizeH="0" baseline="0" dirty="0" smtClean="0">
                <a:ln>
                  <a:noFill/>
                </a:ln>
                <a:solidFill>
                  <a:schemeClr val="tx1"/>
                </a:solidFill>
                <a:effectLst/>
                <a:latin typeface="Arial" charset="0"/>
                <a:cs typeface="Arial" charset="0"/>
              </a:rPr>
              <a:t> –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All data (soil, weather, user info) must be safe and protected</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Availability</a:t>
            </a:r>
            <a:r>
              <a:rPr kumimoji="0" lang="en-US" sz="1800" b="0" i="0" u="none" strike="noStrike" cap="none" normalizeH="0" baseline="0" dirty="0" smtClean="0">
                <a:ln>
                  <a:noFill/>
                </a:ln>
                <a:solidFill>
                  <a:schemeClr val="tx1"/>
                </a:solidFill>
                <a:effectLst/>
                <a:latin typeface="Arial" charset="0"/>
                <a:cs typeface="Arial" charset="0"/>
              </a:rPr>
              <a:t> –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The system should be available 24/7 with minimal downtime</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Maintainability</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Easy to update and fix errors without affecting performance.</a:t>
            </a:r>
          </a:p>
          <a:p>
            <a:pPr marR="0" lvl="0"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60764131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1923" y="3380"/>
            <a:ext cx="2829024" cy="646331"/>
          </a:xfrm>
          <a:prstGeom prst="rect">
            <a:avLst/>
          </a:prstGeom>
          <a:noFill/>
        </p:spPr>
        <p:txBody>
          <a:bodyPr wrap="square" rtlCol="0">
            <a:spAutoFit/>
          </a:bodyPr>
          <a:lstStyle/>
          <a:p>
            <a:pPr algn="ctr"/>
            <a:r>
              <a:rPr lang="en-IN" sz="3600" i="1" dirty="0" smtClean="0">
                <a:latin typeface="Times New Roman" pitchFamily="18" charset="0"/>
                <a:cs typeface="Times New Roman" pitchFamily="18" charset="0"/>
              </a:rPr>
              <a:t>Methodology:</a:t>
            </a:r>
            <a:endParaRPr lang="en-IN" sz="3600" i="1" dirty="0">
              <a:latin typeface="Times New Roman" pitchFamily="18" charset="0"/>
              <a:cs typeface="Times New Roman" pitchFamily="18" charset="0"/>
            </a:endParaRPr>
          </a:p>
        </p:txBody>
      </p:sp>
      <p:pic>
        <p:nvPicPr>
          <p:cNvPr id="2050" name="Picture 2" descr="https://cdn.ncbi.nlm.nih.gov/pmc/blobs/927c/11623066/6f25ee32562a/peerj-cs-10-2478-g0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6435" y="794082"/>
            <a:ext cx="6684684" cy="513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306757"/>
      </p:ext>
    </p:extLst>
  </p:cSld>
  <p:clrMapOvr>
    <a:masterClrMapping/>
  </p:clrMapOvr>
  <p:transition spd="slow">
    <p:wheel spokes="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13F892B5-5B8B-F0C3-AFBC-D77AD455EDB1}"/>
              </a:ext>
            </a:extLst>
          </p:cNvPr>
          <p:cNvSpPr txBox="1"/>
          <p:nvPr/>
        </p:nvSpPr>
        <p:spPr>
          <a:xfrm>
            <a:off x="1791481" y="242604"/>
            <a:ext cx="3872207"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METHODOLOGY:</a:t>
            </a:r>
          </a:p>
        </p:txBody>
      </p:sp>
      <p:sp>
        <p:nvSpPr>
          <p:cNvPr id="8" name="TextBox 7">
            <a:extLst>
              <a:ext uri="{FF2B5EF4-FFF2-40B4-BE49-F238E27FC236}">
                <a16:creationId xmlns="" xmlns:a16="http://schemas.microsoft.com/office/drawing/2014/main" id="{F19DDF66-533C-DDA0-6862-FF1ECE318252}"/>
              </a:ext>
            </a:extLst>
          </p:cNvPr>
          <p:cNvSpPr txBox="1"/>
          <p:nvPr/>
        </p:nvSpPr>
        <p:spPr>
          <a:xfrm>
            <a:off x="2152240" y="2438283"/>
            <a:ext cx="6363477"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AI will suggest the best crops to grow and how to take care of the land.</a:t>
            </a:r>
            <a:endParaRPr lang="en-IN"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E82AC396-B9E4-538B-6940-49AE4BB71CDA}"/>
              </a:ext>
            </a:extLst>
          </p:cNvPr>
          <p:cNvSpPr txBox="1"/>
          <p:nvPr/>
        </p:nvSpPr>
        <p:spPr>
          <a:xfrm>
            <a:off x="2088952" y="3376478"/>
            <a:ext cx="6363477"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itchFamily="18" charset="0"/>
                <a:cs typeface="Times New Roman" pitchFamily="18" charset="0"/>
              </a:rPr>
              <a:t>The system updates and improves its accuracy using new data over </a:t>
            </a:r>
            <a:r>
              <a:rPr lang="en-US" sz="2400" dirty="0" smtClean="0">
                <a:latin typeface="Times New Roman" pitchFamily="18" charset="0"/>
                <a:cs typeface="Times New Roman" pitchFamily="18" charset="0"/>
              </a:rPr>
              <a:t>time.</a:t>
            </a:r>
            <a:endParaRPr lang="en-IN"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2152240" y="1225420"/>
            <a:ext cx="6766291" cy="1200329"/>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Use AI to generate adaptive recommendations for crop selection, irrigation planning, and land use adjustments.</a:t>
            </a:r>
            <a:endParaRPr lang="en-IN" sz="2400" dirty="0">
              <a:latin typeface="Times New Roman" pitchFamily="18" charset="0"/>
              <a:cs typeface="Times New Roman" pitchFamily="18" charset="0"/>
            </a:endParaRPr>
          </a:p>
        </p:txBody>
      </p:sp>
      <p:sp>
        <p:nvSpPr>
          <p:cNvPr id="5" name="Rectangle 4"/>
          <p:cNvSpPr/>
          <p:nvPr/>
        </p:nvSpPr>
        <p:spPr>
          <a:xfrm>
            <a:off x="2180280" y="4517543"/>
            <a:ext cx="6966816" cy="1200329"/>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Compare AI-driven strategies with traditional methods to measure improvement in productivity and sustainability.</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52744646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1F1ACB4-5A1C-520D-0276-D067BB7BBBC4}"/>
              </a:ext>
            </a:extLst>
          </p:cNvPr>
          <p:cNvSpPr txBox="1"/>
          <p:nvPr/>
        </p:nvSpPr>
        <p:spPr>
          <a:xfrm>
            <a:off x="1623527" y="494530"/>
            <a:ext cx="8416212"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Hardware and Software Requirements:</a:t>
            </a:r>
          </a:p>
        </p:txBody>
      </p:sp>
      <p:sp>
        <p:nvSpPr>
          <p:cNvPr id="9" name="TextBox 8">
            <a:extLst>
              <a:ext uri="{FF2B5EF4-FFF2-40B4-BE49-F238E27FC236}">
                <a16:creationId xmlns="" xmlns:a16="http://schemas.microsoft.com/office/drawing/2014/main" id="{5421AAB7-74AA-5001-28F3-0139DF20671A}"/>
              </a:ext>
            </a:extLst>
          </p:cNvPr>
          <p:cNvSpPr txBox="1"/>
          <p:nvPr/>
        </p:nvSpPr>
        <p:spPr>
          <a:xfrm>
            <a:off x="2913487" y="1296519"/>
            <a:ext cx="6106884" cy="738664"/>
          </a:xfrm>
          <a:prstGeom prst="rect">
            <a:avLst/>
          </a:prstGeom>
          <a:noFill/>
        </p:spPr>
        <p:txBody>
          <a:bodyPr wrap="square">
            <a:spAutoFit/>
          </a:bodyPr>
          <a:lstStyle/>
          <a:p>
            <a:pPr marL="457200" lvl="0" indent="-457200">
              <a:lnSpc>
                <a:spcPct val="150000"/>
              </a:lnSpc>
              <a:buFont typeface="Wingdings" panose="05000000000000000000" pitchFamily="2" charset="2"/>
              <a:buChar char="Ø"/>
              <a:tabLst>
                <a:tab pos="563880" algn="l"/>
              </a:tabLst>
            </a:pP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Hard</a:t>
            </a:r>
            <a:r>
              <a:rPr lang="en-US" sz="2800"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Disk: 500</a:t>
            </a:r>
            <a:r>
              <a:rPr lang="en-US" sz="2800" spc="4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GB</a:t>
            </a:r>
            <a:r>
              <a:rPr lang="en-US" sz="2800" spc="3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or</a:t>
            </a:r>
            <a:r>
              <a:rPr lang="en-US" sz="2800" spc="3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20" dirty="0">
                <a:effectLst/>
                <a:latin typeface="Times New Roman" panose="02020603050405020304" pitchFamily="18" charset="0"/>
                <a:ea typeface="Wingdings" panose="05000000000000000000" pitchFamily="2" charset="2"/>
                <a:cs typeface="Times New Roman" panose="02020603050405020304" pitchFamily="18" charset="0"/>
              </a:rPr>
              <a:t>more</a:t>
            </a:r>
            <a:endParaRPr lang="en-IN" sz="2800" spc="0" dirty="0">
              <a:effectLst/>
              <a:latin typeface="Times New Roman" panose="02020603050405020304" pitchFamily="18" charset="0"/>
              <a:ea typeface="Wingdings" panose="05000000000000000000" pitchFamily="2" charset="2"/>
              <a:cs typeface="Times New Roman" panose="02020603050405020304" pitchFamily="18" charset="0"/>
            </a:endParaRPr>
          </a:p>
        </p:txBody>
      </p:sp>
      <p:sp>
        <p:nvSpPr>
          <p:cNvPr id="11" name="TextBox 10">
            <a:extLst>
              <a:ext uri="{FF2B5EF4-FFF2-40B4-BE49-F238E27FC236}">
                <a16:creationId xmlns="" xmlns:a16="http://schemas.microsoft.com/office/drawing/2014/main" id="{A26ED1C7-9FA6-77A3-A97B-094F19426F2B}"/>
              </a:ext>
            </a:extLst>
          </p:cNvPr>
          <p:cNvSpPr txBox="1"/>
          <p:nvPr/>
        </p:nvSpPr>
        <p:spPr>
          <a:xfrm>
            <a:off x="2913487" y="1957726"/>
            <a:ext cx="6106884" cy="738664"/>
          </a:xfrm>
          <a:prstGeom prst="rect">
            <a:avLst/>
          </a:prstGeom>
          <a:noFill/>
        </p:spPr>
        <p:txBody>
          <a:bodyPr wrap="square">
            <a:spAutoFit/>
          </a:bodyPr>
          <a:lstStyle/>
          <a:p>
            <a:pPr marL="457200" lvl="0" indent="-457200">
              <a:lnSpc>
                <a:spcPct val="150000"/>
              </a:lnSpc>
              <a:buFont typeface="Wingdings" panose="05000000000000000000" pitchFamily="2" charset="2"/>
              <a:buChar char="Ø"/>
              <a:tabLst>
                <a:tab pos="563880" algn="l"/>
              </a:tabLst>
            </a:pP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RAM: 4</a:t>
            </a:r>
            <a:r>
              <a:rPr lang="en-US" sz="2800" spc="25"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GB</a:t>
            </a:r>
            <a:r>
              <a:rPr lang="en-US" sz="2800" spc="1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0" dirty="0">
                <a:effectLst/>
                <a:latin typeface="Times New Roman" panose="02020603050405020304" pitchFamily="18" charset="0"/>
                <a:ea typeface="Wingdings" panose="05000000000000000000" pitchFamily="2" charset="2"/>
                <a:cs typeface="Times New Roman" panose="02020603050405020304" pitchFamily="18" charset="0"/>
              </a:rPr>
              <a:t>or</a:t>
            </a:r>
            <a:r>
              <a:rPr lang="en-US" sz="2800" spc="70" dirty="0">
                <a:effectLst/>
                <a:latin typeface="Times New Roman" panose="02020603050405020304" pitchFamily="18" charset="0"/>
                <a:ea typeface="Wingdings" panose="05000000000000000000" pitchFamily="2" charset="2"/>
                <a:cs typeface="Times New Roman" panose="02020603050405020304" pitchFamily="18" charset="0"/>
              </a:rPr>
              <a:t> </a:t>
            </a:r>
            <a:r>
              <a:rPr lang="en-US" sz="2800" spc="-20" dirty="0">
                <a:effectLst/>
                <a:latin typeface="Times New Roman" panose="02020603050405020304" pitchFamily="18" charset="0"/>
                <a:ea typeface="Wingdings" panose="05000000000000000000" pitchFamily="2" charset="2"/>
                <a:cs typeface="Times New Roman" panose="02020603050405020304" pitchFamily="18" charset="0"/>
              </a:rPr>
              <a:t>more</a:t>
            </a:r>
            <a:endParaRPr lang="en-IN" sz="2800" spc="0" dirty="0">
              <a:effectLst/>
              <a:latin typeface="Times New Roman" panose="02020603050405020304" pitchFamily="18" charset="0"/>
              <a:ea typeface="Wingdings" panose="05000000000000000000" pitchFamily="2" charset="2"/>
              <a:cs typeface="Times New Roman" panose="02020603050405020304" pitchFamily="18" charset="0"/>
            </a:endParaRPr>
          </a:p>
        </p:txBody>
      </p:sp>
      <p:sp>
        <p:nvSpPr>
          <p:cNvPr id="13" name="TextBox 12">
            <a:extLst>
              <a:ext uri="{FF2B5EF4-FFF2-40B4-BE49-F238E27FC236}">
                <a16:creationId xmlns="" xmlns:a16="http://schemas.microsoft.com/office/drawing/2014/main" id="{5EB20385-EC65-D14C-84FB-58E488C98A24}"/>
              </a:ext>
            </a:extLst>
          </p:cNvPr>
          <p:cNvSpPr txBox="1"/>
          <p:nvPr/>
        </p:nvSpPr>
        <p:spPr>
          <a:xfrm>
            <a:off x="2913487" y="2618933"/>
            <a:ext cx="6106884" cy="738664"/>
          </a:xfrm>
          <a:prstGeom prst="rect">
            <a:avLst/>
          </a:prstGeom>
          <a:noFill/>
        </p:spPr>
        <p:txBody>
          <a:bodyPr wrap="square">
            <a:spAutoFit/>
          </a:bodyPr>
          <a:lstStyle/>
          <a:p>
            <a:pPr marL="457200" lvl="0" indent="-457200">
              <a:lnSpc>
                <a:spcPct val="150000"/>
              </a:lnSpc>
              <a:buFont typeface="Wingdings" panose="05000000000000000000" pitchFamily="2" charset="2"/>
              <a:buChar char="Ø"/>
              <a:tabLst>
                <a:tab pos="563880"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Processor:</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i3</a:t>
            </a:r>
            <a:r>
              <a:rPr lang="en-US" sz="2800" spc="3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or</a:t>
            </a:r>
            <a:r>
              <a:rPr lang="en-US" sz="2800" spc="5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20" dirty="0">
                <a:effectLst/>
                <a:latin typeface="Times New Roman" panose="02020603050405020304" pitchFamily="18" charset="0"/>
                <a:ea typeface="Wingdings" panose="05000000000000000000" pitchFamily="2" charset="2"/>
                <a:cs typeface="Wingdings" panose="05000000000000000000" pitchFamily="2" charset="2"/>
              </a:rPr>
              <a:t>Above</a:t>
            </a:r>
            <a:endParaRPr lang="en-IN" sz="2800" spc="0" dirty="0">
              <a:effectLst/>
              <a:latin typeface="Times New Roman" panose="02020603050405020304" pitchFamily="18" charset="0"/>
              <a:ea typeface="Wingdings" panose="05000000000000000000" pitchFamily="2" charset="2"/>
              <a:cs typeface="Wingdings" panose="05000000000000000000" pitchFamily="2" charset="2"/>
            </a:endParaRPr>
          </a:p>
        </p:txBody>
      </p:sp>
      <p:sp>
        <p:nvSpPr>
          <p:cNvPr id="15" name="TextBox 14">
            <a:extLst>
              <a:ext uri="{FF2B5EF4-FFF2-40B4-BE49-F238E27FC236}">
                <a16:creationId xmlns="" xmlns:a16="http://schemas.microsoft.com/office/drawing/2014/main" id="{14278DB8-C12A-D11B-7447-2AFEC09050D3}"/>
              </a:ext>
            </a:extLst>
          </p:cNvPr>
          <p:cNvSpPr txBox="1"/>
          <p:nvPr/>
        </p:nvSpPr>
        <p:spPr>
          <a:xfrm>
            <a:off x="2913484" y="3280144"/>
            <a:ext cx="7704752" cy="738664"/>
          </a:xfrm>
          <a:prstGeom prst="rect">
            <a:avLst/>
          </a:prstGeom>
          <a:noFill/>
        </p:spPr>
        <p:txBody>
          <a:bodyPr wrap="square">
            <a:spAutoFit/>
          </a:bodyPr>
          <a:lstStyle/>
          <a:p>
            <a:pPr marL="457200" lvl="0" indent="-457200">
              <a:lnSpc>
                <a:spcPct val="150000"/>
              </a:lnSpc>
              <a:buFont typeface="Wingdings" panose="05000000000000000000" pitchFamily="2" charset="2"/>
              <a:buChar char="Ø"/>
              <a:tabLst>
                <a:tab pos="563880"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Front</a:t>
            </a:r>
            <a:r>
              <a:rPr lang="en-US" sz="2800" spc="7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End</a:t>
            </a:r>
            <a:r>
              <a:rPr lang="en-US" sz="28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Language:</a:t>
            </a:r>
            <a:r>
              <a:rPr lang="en-US" sz="28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HTML,</a:t>
            </a:r>
            <a:r>
              <a:rPr lang="en-US" sz="2800" spc="6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CSS,</a:t>
            </a:r>
            <a:r>
              <a:rPr lang="en-US" sz="2800" spc="6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10" dirty="0">
                <a:effectLst/>
                <a:latin typeface="Times New Roman" panose="02020603050405020304" pitchFamily="18" charset="0"/>
                <a:ea typeface="Wingdings" panose="05000000000000000000" pitchFamily="2" charset="2"/>
                <a:cs typeface="Wingdings" panose="05000000000000000000" pitchFamily="2" charset="2"/>
              </a:rPr>
              <a:t>JavaScript</a:t>
            </a:r>
            <a:endParaRPr lang="en-IN" sz="2800" spc="0" dirty="0">
              <a:effectLst/>
              <a:latin typeface="Times New Roman" panose="02020603050405020304" pitchFamily="18" charset="0"/>
              <a:ea typeface="Wingdings" panose="05000000000000000000" pitchFamily="2" charset="2"/>
              <a:cs typeface="Wingdings" panose="05000000000000000000" pitchFamily="2" charset="2"/>
            </a:endParaRPr>
          </a:p>
        </p:txBody>
      </p:sp>
      <p:sp>
        <p:nvSpPr>
          <p:cNvPr id="17" name="TextBox 16">
            <a:extLst>
              <a:ext uri="{FF2B5EF4-FFF2-40B4-BE49-F238E27FC236}">
                <a16:creationId xmlns="" xmlns:a16="http://schemas.microsoft.com/office/drawing/2014/main" id="{F2043C81-C0C0-CB73-AEED-EE98565FDAF6}"/>
              </a:ext>
            </a:extLst>
          </p:cNvPr>
          <p:cNvSpPr txBox="1"/>
          <p:nvPr/>
        </p:nvSpPr>
        <p:spPr>
          <a:xfrm>
            <a:off x="2913485" y="3951553"/>
            <a:ext cx="7626179" cy="738664"/>
          </a:xfrm>
          <a:prstGeom prst="rect">
            <a:avLst/>
          </a:prstGeom>
          <a:noFill/>
        </p:spPr>
        <p:txBody>
          <a:bodyPr wrap="square">
            <a:spAutoFit/>
          </a:bodyPr>
          <a:lstStyle/>
          <a:p>
            <a:pPr marL="457200" lvl="0" indent="-457200">
              <a:lnSpc>
                <a:spcPct val="150000"/>
              </a:lnSpc>
              <a:buFont typeface="Wingdings" panose="05000000000000000000" pitchFamily="2" charset="2"/>
              <a:buChar char="Ø"/>
              <a:tabLst>
                <a:tab pos="563880"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Backend </a:t>
            </a:r>
            <a:r>
              <a:rPr lang="en-US" sz="2800" spc="0" dirty="0" smtClean="0">
                <a:effectLst/>
                <a:latin typeface="Times New Roman" panose="02020603050405020304" pitchFamily="18" charset="0"/>
                <a:ea typeface="Wingdings" panose="05000000000000000000" pitchFamily="2" charset="2"/>
                <a:cs typeface="Wingdings" panose="05000000000000000000" pitchFamily="2" charset="2"/>
              </a:rPr>
              <a:t>Language: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Python 3.8 and JavaScript</a:t>
            </a:r>
            <a:endParaRPr lang="en-IN" sz="2800" spc="0" dirty="0">
              <a:effectLst/>
              <a:latin typeface="Times New Roman" panose="02020603050405020304" pitchFamily="18" charset="0"/>
              <a:ea typeface="Wingdings" panose="05000000000000000000" pitchFamily="2" charset="2"/>
              <a:cs typeface="Wingdings" panose="05000000000000000000" pitchFamily="2" charset="2"/>
            </a:endParaRPr>
          </a:p>
        </p:txBody>
      </p:sp>
      <p:sp>
        <p:nvSpPr>
          <p:cNvPr id="19" name="TextBox 18">
            <a:extLst>
              <a:ext uri="{FF2B5EF4-FFF2-40B4-BE49-F238E27FC236}">
                <a16:creationId xmlns="" xmlns:a16="http://schemas.microsoft.com/office/drawing/2014/main" id="{BAC07D4F-BECF-C5FF-F8EA-1A15F002DA79}"/>
              </a:ext>
            </a:extLst>
          </p:cNvPr>
          <p:cNvSpPr txBox="1"/>
          <p:nvPr/>
        </p:nvSpPr>
        <p:spPr>
          <a:xfrm>
            <a:off x="2913489" y="4622964"/>
            <a:ext cx="6235959" cy="738664"/>
          </a:xfrm>
          <a:prstGeom prst="rect">
            <a:avLst/>
          </a:prstGeom>
          <a:noFill/>
        </p:spPr>
        <p:txBody>
          <a:bodyPr wrap="square">
            <a:spAutoFit/>
          </a:bodyPr>
          <a:lstStyle/>
          <a:p>
            <a:pPr marL="457200" lvl="0" indent="-457200">
              <a:lnSpc>
                <a:spcPct val="150000"/>
              </a:lnSpc>
              <a:buFont typeface="Wingdings" panose="05000000000000000000" pitchFamily="2" charset="2"/>
              <a:buChar char="Ø"/>
              <a:tabLst>
                <a:tab pos="563880"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Operating System: Window 11</a:t>
            </a:r>
            <a:endParaRPr lang="en-IN" sz="2800" spc="0" dirty="0">
              <a:effectLst/>
              <a:latin typeface="Times New Roman" panose="02020603050405020304" pitchFamily="18" charset="0"/>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241305265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114" y="1311897"/>
            <a:ext cx="8311713" cy="3956708"/>
          </a:xfrm>
          <a:prstGeom prst="rect">
            <a:avLst/>
          </a:prstGeom>
        </p:spPr>
      </p:pic>
      <p:sp>
        <p:nvSpPr>
          <p:cNvPr id="6" name="TextBox 5"/>
          <p:cNvSpPr txBox="1"/>
          <p:nvPr/>
        </p:nvSpPr>
        <p:spPr>
          <a:xfrm>
            <a:off x="1708484" y="416259"/>
            <a:ext cx="1963999" cy="584775"/>
          </a:xfrm>
          <a:prstGeom prst="rect">
            <a:avLst/>
          </a:prstGeom>
          <a:noFill/>
        </p:spPr>
        <p:txBody>
          <a:bodyPr wrap="none" rtlCol="0">
            <a:spAutoFit/>
          </a:bodyPr>
          <a:lstStyle/>
          <a:p>
            <a:r>
              <a:rPr lang="en-IN" sz="3200" dirty="0" smtClean="0">
                <a:latin typeface="Times New Roman" pitchFamily="18" charset="0"/>
                <a:cs typeface="Times New Roman" pitchFamily="18" charset="0"/>
              </a:rPr>
              <a:t>Snapshots:</a:t>
            </a:r>
            <a:endParaRPr lang="en-IN" sz="3200" dirty="0">
              <a:latin typeface="Times New Roman" pitchFamily="18" charset="0"/>
              <a:cs typeface="Times New Roman" pitchFamily="18" charset="0"/>
            </a:endParaRPr>
          </a:p>
        </p:txBody>
      </p:sp>
      <p:sp>
        <p:nvSpPr>
          <p:cNvPr id="7" name="Rectangle 6"/>
          <p:cNvSpPr/>
          <p:nvPr/>
        </p:nvSpPr>
        <p:spPr>
          <a:xfrm>
            <a:off x="3113606" y="5442103"/>
            <a:ext cx="5982728" cy="461665"/>
          </a:xfrm>
          <a:prstGeom prst="rect">
            <a:avLst/>
          </a:prstGeom>
        </p:spPr>
        <p:txBody>
          <a:bodyPr wrap="none">
            <a:spAutoFit/>
          </a:bodyPr>
          <a:lstStyle/>
          <a:p>
            <a:r>
              <a:rPr lang="en-US" sz="2400" dirty="0">
                <a:latin typeface="Times New Roman" pitchFamily="18" charset="0"/>
                <a:cs typeface="Times New Roman" pitchFamily="18" charset="0"/>
              </a:rPr>
              <a:t>Classification Result of Crop Prediction Model</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725623759"/>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594" y="369509"/>
            <a:ext cx="8791073" cy="4687583"/>
          </a:xfrm>
          <a:prstGeom prst="rect">
            <a:avLst/>
          </a:prstGeom>
        </p:spPr>
      </p:pic>
      <p:sp>
        <p:nvSpPr>
          <p:cNvPr id="3" name="Rectangle 2"/>
          <p:cNvSpPr/>
          <p:nvPr/>
        </p:nvSpPr>
        <p:spPr>
          <a:xfrm>
            <a:off x="3432343" y="5057092"/>
            <a:ext cx="5622052" cy="461665"/>
          </a:xfrm>
          <a:prstGeom prst="rect">
            <a:avLst/>
          </a:prstGeom>
        </p:spPr>
        <p:txBody>
          <a:bodyPr wrap="none">
            <a:spAutoFit/>
          </a:bodyPr>
          <a:lstStyle/>
          <a:p>
            <a:r>
              <a:rPr lang="en-US" dirty="0" smtClean="0"/>
              <a:t> </a:t>
            </a:r>
            <a:r>
              <a:rPr lang="en-US" sz="2400" dirty="0">
                <a:latin typeface="Times New Roman" pitchFamily="18" charset="0"/>
                <a:cs typeface="Times New Roman" pitchFamily="18" charset="0"/>
              </a:rPr>
              <a:t>User Input and Recommended Crop Output</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752794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084501E-6E48-638B-5501-F2FCECF0DE76}"/>
              </a:ext>
            </a:extLst>
          </p:cNvPr>
          <p:cNvSpPr txBox="1"/>
          <p:nvPr/>
        </p:nvSpPr>
        <p:spPr>
          <a:xfrm>
            <a:off x="1735495" y="279918"/>
            <a:ext cx="6214188" cy="923330"/>
          </a:xfrm>
          <a:prstGeom prst="rect">
            <a:avLst/>
          </a:prstGeom>
          <a:noFill/>
        </p:spPr>
        <p:txBody>
          <a:bodyPr wrap="square" rtlCol="0">
            <a:spAutoFit/>
          </a:bodyPr>
          <a:lstStyle/>
          <a:p>
            <a:pPr marL="219710" algn="l">
              <a:lnSpc>
                <a:spcPct val="150000"/>
              </a:lnSpc>
            </a:pPr>
            <a:r>
              <a:rPr lang="en-US" sz="3600" b="1" dirty="0">
                <a:effectLst/>
                <a:latin typeface="Times New Roman" panose="02020603050405020304" pitchFamily="18" charset="0"/>
              </a:rPr>
              <a:t>RESULT</a:t>
            </a:r>
            <a:r>
              <a:rPr lang="en-US" sz="3600" b="1" spc="-10" dirty="0">
                <a:effectLst/>
                <a:latin typeface="Times New Roman" panose="02020603050405020304" pitchFamily="18" charset="0"/>
              </a:rPr>
              <a:t> EXPECTED:</a:t>
            </a:r>
            <a:endParaRPr lang="en-IN" sz="3600" b="1" dirty="0">
              <a:effectLst/>
              <a:latin typeface="Times New Roman" panose="02020603050405020304" pitchFamily="18" charset="0"/>
            </a:endParaRPr>
          </a:p>
        </p:txBody>
      </p:sp>
      <p:sp>
        <p:nvSpPr>
          <p:cNvPr id="4" name="TextBox 3">
            <a:extLst>
              <a:ext uri="{FF2B5EF4-FFF2-40B4-BE49-F238E27FC236}">
                <a16:creationId xmlns="" xmlns:a16="http://schemas.microsoft.com/office/drawing/2014/main" id="{2B4D44A5-F9C0-5E50-6394-26C76CDCC68B}"/>
              </a:ext>
            </a:extLst>
          </p:cNvPr>
          <p:cNvSpPr txBox="1"/>
          <p:nvPr/>
        </p:nvSpPr>
        <p:spPr>
          <a:xfrm>
            <a:off x="1623529" y="1613190"/>
            <a:ext cx="9041363" cy="3323987"/>
          </a:xfrm>
          <a:prstGeom prst="rect">
            <a:avLst/>
          </a:prstGeom>
          <a:noFill/>
        </p:spPr>
        <p:txBody>
          <a:bodyPr wrap="square">
            <a:spAutoFit/>
          </a:bodyPr>
          <a:lstStyle/>
          <a:p>
            <a:pPr marL="219710" marR="40640" indent="877570" algn="just">
              <a:lnSpc>
                <a:spcPct val="150000"/>
              </a:lnSpc>
            </a:pPr>
            <a:r>
              <a:rPr lang="en-IN" sz="2800" dirty="0">
                <a:effectLst/>
                <a:latin typeface="Times New Roman" panose="02020603050405020304" pitchFamily="18" charset="0"/>
                <a:ea typeface="Times New Roman" panose="02020603050405020304" pitchFamily="18" charset="0"/>
              </a:rPr>
              <a:t>The AI-Driven Agricultural Land Adaptation System is expected to significantly improve agricultural productivity by providing farmers with real-time, data- driven insights for better crop selection, irrigation, and soil management.</a:t>
            </a:r>
          </a:p>
        </p:txBody>
      </p:sp>
    </p:spTree>
    <p:extLst>
      <p:ext uri="{BB962C8B-B14F-4D97-AF65-F5344CB8AC3E}">
        <p14:creationId xmlns:p14="http://schemas.microsoft.com/office/powerpoint/2010/main" val="3374684878"/>
      </p:ext>
    </p:extLst>
  </p:cSld>
  <p:clrMapOvr>
    <a:masterClrMapping/>
  </p:clrMapOvr>
  <p:transition spd="slow">
    <p:wheel spokes="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1916" y="216568"/>
            <a:ext cx="2501006" cy="523220"/>
          </a:xfrm>
          <a:prstGeom prst="rect">
            <a:avLst/>
          </a:prstGeom>
          <a:noFill/>
        </p:spPr>
        <p:txBody>
          <a:bodyPr wrap="none" rtlCol="0">
            <a:spAutoFit/>
          </a:bodyPr>
          <a:lstStyle/>
          <a:p>
            <a:r>
              <a:rPr lang="en-IN" sz="2800" dirty="0" smtClean="0">
                <a:latin typeface="Times New Roman" pitchFamily="18" charset="0"/>
                <a:cs typeface="Times New Roman" pitchFamily="18" charset="0"/>
              </a:rPr>
              <a:t>CONCLUSION</a:t>
            </a:r>
            <a:endParaRPr lang="en-IN" sz="2800" dirty="0">
              <a:latin typeface="Times New Roman" pitchFamily="18" charset="0"/>
              <a:cs typeface="Times New Roman" pitchFamily="18" charset="0"/>
            </a:endParaRPr>
          </a:p>
        </p:txBody>
      </p:sp>
      <p:sp>
        <p:nvSpPr>
          <p:cNvPr id="4" name="Rectangle 3"/>
          <p:cNvSpPr/>
          <p:nvPr/>
        </p:nvSpPr>
        <p:spPr>
          <a:xfrm>
            <a:off x="1491916" y="1012846"/>
            <a:ext cx="8871284" cy="4154984"/>
          </a:xfrm>
          <a:prstGeom prst="rect">
            <a:avLst/>
          </a:prstGeom>
        </p:spPr>
        <p:txBody>
          <a:bodyPr wrap="square">
            <a:spAutoFit/>
          </a:bodyPr>
          <a:lstStyle/>
          <a:p>
            <a:pPr algn="just"/>
            <a:r>
              <a:rPr lang="en-US" sz="2400" dirty="0">
                <a:latin typeface="Times New Roman" pitchFamily="18" charset="0"/>
                <a:cs typeface="Times New Roman" pitchFamily="18" charset="0"/>
              </a:rPr>
              <a:t>The AI-Driven Agricultural Land Adaptation System has shown that modern technology can play a powerful role in improving farming practices. By using real-time data and artificial intelligence, the system helps farmers make smarter decisions about which crops to grow, how to manage water and fertilizers, and how to deal with changing weather or soil conditions. It provides early warnings about risks like droughts, pests, and diseases, which helps prevent crop loss. The system is easy to use, even for farmers with little technical knowledge, and can be accessed through mobile or web platforms. Overall, this AI- based approach supports more efficient, sustainable, and productive agriculture, making it a useful tool for future farming needs.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902149094"/>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15852" y="112295"/>
            <a:ext cx="2438401" cy="523220"/>
          </a:xfrm>
          <a:prstGeom prst="rect">
            <a:avLst/>
          </a:prstGeom>
          <a:noFill/>
        </p:spPr>
        <p:txBody>
          <a:bodyPr wrap="square" rtlCol="0">
            <a:spAutoFit/>
          </a:bodyPr>
          <a:lstStyle/>
          <a:p>
            <a:r>
              <a:rPr lang="en-IN" sz="2800" dirty="0" smtClean="0">
                <a:latin typeface="Times New Roman" pitchFamily="18" charset="0"/>
                <a:cs typeface="Times New Roman" pitchFamily="18" charset="0"/>
              </a:rPr>
              <a:t>REFERENCES</a:t>
            </a:r>
            <a:endParaRPr lang="en-IN" sz="2800" dirty="0">
              <a:latin typeface="Times New Roman" pitchFamily="18" charset="0"/>
              <a:cs typeface="Times New Roman" pitchFamily="18" charset="0"/>
            </a:endParaRPr>
          </a:p>
        </p:txBody>
      </p:sp>
      <p:sp>
        <p:nvSpPr>
          <p:cNvPr id="5" name="Rectangle 4"/>
          <p:cNvSpPr/>
          <p:nvPr/>
        </p:nvSpPr>
        <p:spPr>
          <a:xfrm>
            <a:off x="1941095" y="1660359"/>
            <a:ext cx="8807115" cy="400110"/>
          </a:xfrm>
          <a:prstGeom prst="rect">
            <a:avLst/>
          </a:prstGeom>
        </p:spPr>
        <p:txBody>
          <a:bodyPr wrap="square">
            <a:spAutoFit/>
          </a:bodyPr>
          <a:lstStyle/>
          <a:p>
            <a:r>
              <a:rPr lang="en-US" sz="2000" dirty="0" smtClean="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
        <p:nvSpPr>
          <p:cNvPr id="6" name="Rectangle 5"/>
          <p:cNvSpPr/>
          <p:nvPr/>
        </p:nvSpPr>
        <p:spPr>
          <a:xfrm>
            <a:off x="2025315" y="2263972"/>
            <a:ext cx="8638674" cy="400110"/>
          </a:xfrm>
          <a:prstGeom prst="rect">
            <a:avLst/>
          </a:prstGeom>
        </p:spPr>
        <p:txBody>
          <a:bodyPr wrap="square">
            <a:spAutoFit/>
          </a:bodyPr>
          <a:lstStyle/>
          <a:p>
            <a:endParaRPr lang="en-IN" sz="2000" dirty="0">
              <a:latin typeface="Times New Roman" pitchFamily="18" charset="0"/>
              <a:cs typeface="Times New Roman" pitchFamily="18" charset="0"/>
            </a:endParaRPr>
          </a:p>
        </p:txBody>
      </p:sp>
      <p:sp>
        <p:nvSpPr>
          <p:cNvPr id="8" name="Rectangle 7"/>
          <p:cNvSpPr/>
          <p:nvPr/>
        </p:nvSpPr>
        <p:spPr>
          <a:xfrm>
            <a:off x="1692443" y="635515"/>
            <a:ext cx="9496926" cy="5632311"/>
          </a:xfrm>
          <a:prstGeom prst="rect">
            <a:avLst/>
          </a:prstGeom>
        </p:spPr>
        <p:txBody>
          <a:bodyPr wrap="square">
            <a:spAutoFit/>
          </a:bodyPr>
          <a:lstStyle/>
          <a:p>
            <a:pPr algn="just"/>
            <a:r>
              <a:rPr lang="en-US" sz="2000" dirty="0">
                <a:latin typeface="Times New Roman" pitchFamily="18" charset="0"/>
                <a:cs typeface="Times New Roman" pitchFamily="18" charset="0"/>
              </a:rPr>
              <a:t>1) </a:t>
            </a:r>
            <a:r>
              <a:rPr lang="en-US" sz="2000" dirty="0" err="1">
                <a:latin typeface="Times New Roman" pitchFamily="18" charset="0"/>
                <a:cs typeface="Times New Roman" pitchFamily="18" charset="0"/>
              </a:rPr>
              <a:t>Hossen</a:t>
            </a:r>
            <a:r>
              <a:rPr lang="en-US" sz="2000" dirty="0">
                <a:latin typeface="Times New Roman" pitchFamily="18" charset="0"/>
                <a:cs typeface="Times New Roman" pitchFamily="18" charset="0"/>
              </a:rPr>
              <a:t>, M. I., et al. (2023). </a:t>
            </a:r>
            <a:r>
              <a:rPr lang="en-US" sz="2000" dirty="0" err="1">
                <a:latin typeface="Times New Roman" pitchFamily="18" charset="0"/>
                <a:cs typeface="Times New Roman" pitchFamily="18" charset="0"/>
              </a:rPr>
              <a:t>AgroXAI</a:t>
            </a:r>
            <a:r>
              <a:rPr lang="en-US" sz="2000" dirty="0">
                <a:latin typeface="Times New Roman" pitchFamily="18" charset="0"/>
                <a:cs typeface="Times New Roman" pitchFamily="18" charset="0"/>
              </a:rPr>
              <a:t>: An Edge Computing-based Explainable </a:t>
            </a:r>
          </a:p>
          <a:p>
            <a:pPr algn="just"/>
            <a:r>
              <a:rPr lang="en-US" sz="2000" dirty="0">
                <a:latin typeface="Times New Roman" pitchFamily="18" charset="0"/>
                <a:cs typeface="Times New Roman" pitchFamily="18" charset="0"/>
              </a:rPr>
              <a:t>Crop Recommendation System. Turkish Journal of Computer and Mathematics </a:t>
            </a:r>
          </a:p>
          <a:p>
            <a:pPr algn="just"/>
            <a:r>
              <a:rPr lang="en-US" sz="2000" dirty="0">
                <a:latin typeface="Times New Roman" pitchFamily="18" charset="0"/>
                <a:cs typeface="Times New Roman" pitchFamily="18" charset="0"/>
              </a:rPr>
              <a:t>Education. ..\</a:t>
            </a:r>
            <a:r>
              <a:rPr lang="en-US" sz="2000" dirty="0" err="1" smtClean="0">
                <a:latin typeface="Times New Roman" pitchFamily="18" charset="0"/>
                <a:cs typeface="Times New Roman" pitchFamily="18" charset="0"/>
              </a:rPr>
              <a:t>OneDrive</a:t>
            </a:r>
            <a:r>
              <a:rPr lang="en-US" sz="2000" dirty="0" smtClean="0">
                <a:latin typeface="Times New Roman" pitchFamily="18" charset="0"/>
                <a:cs typeface="Times New Roman" pitchFamily="18" charset="0"/>
              </a:rPr>
              <a:t>\Desktop\S277323712200020X.htm</a:t>
            </a:r>
          </a:p>
          <a:p>
            <a:pPr algn="just"/>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2) Introduction to AI-Driven Agricultural land adoption system Accessed </a:t>
            </a:r>
          </a:p>
          <a:p>
            <a:pPr algn="just"/>
            <a:r>
              <a:rPr lang="en-US" sz="2000" dirty="0">
                <a:latin typeface="Times New Roman" pitchFamily="18" charset="0"/>
                <a:cs typeface="Times New Roman" pitchFamily="18" charset="0"/>
              </a:rPr>
              <a:t>December 2024. https://www.geeksforgeeks.org/ system processing</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3) Effectively Pre-processing the Text Data Part 1: Text Cleaning Accessed </a:t>
            </a:r>
          </a:p>
          <a:p>
            <a:pPr algn="just"/>
            <a:r>
              <a:rPr lang="en-US" sz="2000" dirty="0">
                <a:latin typeface="Times New Roman" pitchFamily="18" charset="0"/>
                <a:cs typeface="Times New Roman" pitchFamily="18" charset="0"/>
              </a:rPr>
              <a:t>December 2024. https://towardsdatascience.com/ effectively-pre-</a:t>
            </a:r>
            <a:r>
              <a:rPr lang="en-US" sz="2000" dirty="0" err="1">
                <a:latin typeface="Times New Roman" pitchFamily="18" charset="0"/>
                <a:cs typeface="Times New Roman" pitchFamily="18" charset="0"/>
              </a:rPr>
              <a:t>processingthe</a:t>
            </a:r>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text-data-part- 1text-cleaning</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4) “Exploring Collaborative Filtering on Implicit Data for Job Recommendations</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5) </a:t>
            </a:r>
            <a:r>
              <a:rPr lang="en-US" sz="2000" dirty="0" err="1">
                <a:latin typeface="Times New Roman" pitchFamily="18" charset="0"/>
                <a:cs typeface="Times New Roman" pitchFamily="18" charset="0"/>
              </a:rPr>
              <a:t>Karthikeyan</a:t>
            </a:r>
            <a:r>
              <a:rPr lang="en-US" sz="2000" dirty="0">
                <a:latin typeface="Times New Roman" pitchFamily="18" charset="0"/>
                <a:cs typeface="Times New Roman" pitchFamily="18" charset="0"/>
              </a:rPr>
              <a:t>, K., &amp; </a:t>
            </a:r>
            <a:r>
              <a:rPr lang="en-US" sz="2000" dirty="0" err="1">
                <a:latin typeface="Times New Roman" pitchFamily="18" charset="0"/>
                <a:cs typeface="Times New Roman" pitchFamily="18" charset="0"/>
              </a:rPr>
              <a:t>Kowsalya</a:t>
            </a:r>
            <a:r>
              <a:rPr lang="en-US" sz="2000" dirty="0">
                <a:latin typeface="Times New Roman" pitchFamily="18" charset="0"/>
                <a:cs typeface="Times New Roman" pitchFamily="18" charset="0"/>
              </a:rPr>
              <a:t>, R. (2023). Artificial Intelligence Applications in </a:t>
            </a:r>
          </a:p>
          <a:p>
            <a:pPr algn="just"/>
            <a:r>
              <a:rPr lang="en-US" sz="2000" dirty="0">
                <a:latin typeface="Times New Roman" pitchFamily="18" charset="0"/>
                <a:cs typeface="Times New Roman" pitchFamily="18" charset="0"/>
              </a:rPr>
              <a:t>Agriculture. International Journal of Advanced Research in Computer and </a:t>
            </a:r>
          </a:p>
          <a:p>
            <a:pPr algn="just"/>
            <a:r>
              <a:rPr lang="en-US" sz="2000" dirty="0">
                <a:latin typeface="Times New Roman" pitchFamily="18" charset="0"/>
                <a:cs typeface="Times New Roman" pitchFamily="18" charset="0"/>
              </a:rPr>
              <a:t>Communication Engineering. </a:t>
            </a:r>
          </a:p>
          <a:p>
            <a:pPr algn="just"/>
            <a:r>
              <a:rPr lang="en-US" sz="2000" dirty="0" smtClean="0">
                <a:latin typeface="Times New Roman" pitchFamily="18" charset="0"/>
                <a:cs typeface="Times New Roman" pitchFamily="18" charset="0"/>
              </a:rPr>
              <a:t> </a:t>
            </a:r>
          </a:p>
          <a:p>
            <a:pPr algn="just"/>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395764640"/>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50B9679-D428-E779-5DDC-8F0B237E8605}"/>
              </a:ext>
            </a:extLst>
          </p:cNvPr>
          <p:cNvSpPr txBox="1"/>
          <p:nvPr/>
        </p:nvSpPr>
        <p:spPr>
          <a:xfrm>
            <a:off x="2808515" y="2211555"/>
            <a:ext cx="7613780" cy="1569660"/>
          </a:xfrm>
          <a:prstGeom prst="rect">
            <a:avLst/>
          </a:prstGeom>
          <a:noFill/>
        </p:spPr>
        <p:txBody>
          <a:bodyPr wrap="square" rtlCol="0">
            <a:spAutoFit/>
          </a:bodyPr>
          <a:lstStyle/>
          <a:p>
            <a:r>
              <a:rPr lang="en-IN" sz="9600" i="1" u="sng" dirty="0">
                <a:latin typeface="Times New Roman" panose="02020603050405020304" pitchFamily="18" charset="0"/>
                <a:cs typeface="Times New Roman" panose="02020603050405020304" pitchFamily="18" charset="0"/>
              </a:rPr>
              <a:t>THANK </a:t>
            </a:r>
            <a:r>
              <a:rPr lang="en-IN" sz="3600" i="1" u="sng" dirty="0">
                <a:latin typeface="Times New Roman" panose="02020603050405020304" pitchFamily="18" charset="0"/>
                <a:cs typeface="Times New Roman" panose="02020603050405020304" pitchFamily="18" charset="0"/>
              </a:rPr>
              <a:t> </a:t>
            </a:r>
            <a:r>
              <a:rPr lang="en-IN" sz="9600" i="1" u="sng" dirty="0">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1289917058"/>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550</TotalTime>
  <Words>1428</Words>
  <Application>Microsoft Office PowerPoint</Application>
  <PresentationFormat>Custom</PresentationFormat>
  <Paragraphs>174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prajwal dnaik</dc:creator>
  <cp:lastModifiedBy>prajwaldnaik</cp:lastModifiedBy>
  <cp:revision>39</cp:revision>
  <dcterms:created xsi:type="dcterms:W3CDTF">2025-05-02T23:48:45Z</dcterms:created>
  <dcterms:modified xsi:type="dcterms:W3CDTF">2025-12-15T04:51:19Z</dcterms:modified>
</cp:coreProperties>
</file>